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5" r:id="rId5"/>
    <p:sldId id="259" r:id="rId6"/>
    <p:sldId id="266" r:id="rId7"/>
    <p:sldId id="267" r:id="rId8"/>
    <p:sldId id="268" r:id="rId9"/>
    <p:sldId id="269" r:id="rId10"/>
    <p:sldId id="260" r:id="rId11"/>
    <p:sldId id="261" r:id="rId12"/>
    <p:sldId id="262" r:id="rId13"/>
    <p:sldId id="263"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7" d="100"/>
          <a:sy n="77" d="100"/>
        </p:scale>
        <p:origin x="883" y="10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theme" Target="theme/theme1.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viewProps" Target="viewProps.xml" /><Relationship Id="rId2" Type="http://schemas.openxmlformats.org/officeDocument/2006/relationships/slide" Target="slides/slide1.xml" /><Relationship Id="rId16" Type="http://schemas.openxmlformats.org/officeDocument/2006/relationships/presProps" Target="pres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slide" Target="slides/slide14.xml" /><Relationship Id="rId10" Type="http://schemas.openxmlformats.org/officeDocument/2006/relationships/slide" Target="slides/slide9.xml" /><Relationship Id="rId19"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standalone="yes"?>
<Relationships xmlns="http://schemas.openxmlformats.org/package/2006/relationships"><Relationship Id="rId8" Type="http://schemas.openxmlformats.org/officeDocument/2006/relationships/hyperlink" Target="https://proceedings.mlr.press/v235/kim24ab.html?utm_source=chatgpt.com" TargetMode="External" /><Relationship Id="rId3" Type="http://schemas.openxmlformats.org/officeDocument/2006/relationships/hyperlink" Target="https://www.ibm.com/think/topics/machine-learning" TargetMode="External" /><Relationship Id="rId7" Type="http://schemas.openxmlformats.org/officeDocument/2006/relationships/hyperlink" Target="https://eprint.iacr.org/2023/1320.pdf" TargetMode="External" /><Relationship Id="rId2" Type="http://schemas.openxmlformats.org/officeDocument/2006/relationships/hyperlink" Target="https://www.geeksforgeeks.org/machine-learning/machine-learning/#:~:text=Machine%20learning%20is%20a%20branch,by%20learning%20from%20the%20data" TargetMode="External" /><Relationship Id="rId1" Type="http://schemas.openxmlformats.org/officeDocument/2006/relationships/slideLayout" Target="../slideLayouts/slideLayout2.xml" /><Relationship Id="rId6" Type="http://schemas.openxmlformats.org/officeDocument/2006/relationships/hyperlink" Target="https://arxiv.org/abs/2403.11519" TargetMode="External" /><Relationship Id="rId5" Type="http://schemas.openxmlformats.org/officeDocument/2006/relationships/hyperlink" Target="https://link.springer.com/chapter/10.1007/978-3-319-70694-8_15" TargetMode="External" /><Relationship Id="rId4" Type="http://schemas.openxmlformats.org/officeDocument/2006/relationships/hyperlink" Target="https://www.microsoft.com/en-us/research/wp-content/uploads/2016/04/CryptonetsTechReport.pdf" TargetMode="External" /></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1524000" y="2800504"/>
            <a:ext cx="9144000" cy="1431251"/>
          </a:xfrm>
        </p:spPr>
        <p:txBody>
          <a:bodyPr>
            <a:noAutofit/>
          </a:bodyPr>
          <a:lstStyle/>
          <a:p>
            <a:r>
              <a:rPr lang="en-IN" sz="5400" dirty="0">
                <a:latin typeface="Times New Roman" panose="02020603050405020304" pitchFamily="18" charset="0"/>
                <a:cs typeface="Times New Roman" panose="02020603050405020304" pitchFamily="18" charset="0"/>
              </a:rPr>
              <a:t>Privacy-preserving Machine Learning</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6"/>
            <a:ext cx="4249963" cy="1788119"/>
          </a:xfrm>
        </p:spPr>
        <p:txBody>
          <a:bodyPr>
            <a:normAutofit/>
          </a:bodyPr>
          <a:lstStyle/>
          <a:p>
            <a:r>
              <a:rPr lang="en-IN" dirty="0"/>
              <a:t>Submitted By:</a:t>
            </a:r>
            <a:br>
              <a:rPr lang="en-IN" dirty="0"/>
            </a:br>
            <a:r>
              <a:rPr lang="en-IN" dirty="0"/>
              <a:t>Pallavi Singh Chonkar</a:t>
            </a:r>
          </a:p>
          <a:p>
            <a:r>
              <a:rPr lang="en-IN" dirty="0"/>
              <a:t>2427030259</a:t>
            </a:r>
          </a:p>
          <a:p>
            <a:r>
              <a:rPr lang="en-IN" dirty="0"/>
              <a:t>Section A</a:t>
            </a:r>
          </a:p>
          <a:p>
            <a:endParaRPr lang="en-IN" dirty="0"/>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Ms. Bali Devi</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latin typeface="Times New Roman" panose="02020603050405020304" pitchFamily="18" charset="0"/>
                <a:cs typeface="Times New Roman" panose="02020603050405020304" pitchFamily="18" charset="0"/>
              </a:rPr>
              <a:t>School of Computer Science and Engineering</a:t>
            </a:r>
          </a:p>
          <a:p>
            <a:pPr>
              <a:lnSpc>
                <a:spcPct val="150000"/>
              </a:lnSpc>
            </a:pPr>
            <a:r>
              <a:rPr lang="en-IN" sz="2800" b="1" dirty="0">
                <a:latin typeface="Times New Roman" panose="02020603050405020304" pitchFamily="18" charset="0"/>
                <a:cs typeface="Times New Roman" panose="02020603050405020304" pitchFamily="18" charset="0"/>
              </a:rPr>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Introduction</a:t>
            </a:r>
          </a:p>
          <a:p>
            <a:pPr>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Literature Review</a:t>
            </a:r>
          </a:p>
          <a:p>
            <a:pPr>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Problem Statement</a:t>
            </a:r>
          </a:p>
          <a:p>
            <a:pPr>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Proposed Solution</a:t>
            </a:r>
          </a:p>
          <a:p>
            <a:pPr>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Objectives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a:xfrm>
            <a:off x="79513" y="206101"/>
            <a:ext cx="3077818" cy="748058"/>
          </a:xfrm>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a:xfrm>
            <a:off x="79513" y="1063486"/>
            <a:ext cx="12032974" cy="6013174"/>
          </a:xfrm>
        </p:spPr>
        <p:txBody>
          <a:bodyPr>
            <a:normAutofit/>
          </a:bodyPr>
          <a:lstStyle/>
          <a:p>
            <a:pPr marL="0" indent="0" algn="just">
              <a:buNone/>
            </a:pPr>
            <a:r>
              <a:rPr lang="en-IN" b="1" dirty="0">
                <a:latin typeface="Times New Roman" panose="02020603050405020304" pitchFamily="18" charset="0"/>
                <a:cs typeface="Times New Roman" panose="02020603050405020304" pitchFamily="18" charset="0"/>
              </a:rPr>
              <a:t>What is Machine Learning ?</a:t>
            </a:r>
          </a:p>
          <a:p>
            <a:pPr algn="just"/>
            <a:r>
              <a:rPr lang="en-IN" dirty="0">
                <a:latin typeface="Times New Roman" panose="02020603050405020304" pitchFamily="18" charset="0"/>
                <a:cs typeface="Times New Roman" panose="02020603050405020304" pitchFamily="18" charset="0"/>
              </a:rPr>
              <a:t>Machine Learning is a subfield of Artificial Intelligence, where algorithms learn pattern from data and make predictions or decisions without being explicitly programmed for every single rule.</a:t>
            </a:r>
          </a:p>
          <a:p>
            <a:pPr marL="0" indent="0" algn="just">
              <a:buNone/>
            </a:pPr>
            <a:r>
              <a:rPr lang="en-IN" b="1" dirty="0">
                <a:latin typeface="Times New Roman" panose="02020603050405020304" pitchFamily="18" charset="0"/>
                <a:cs typeface="Times New Roman" panose="02020603050405020304" pitchFamily="18" charset="0"/>
              </a:rPr>
              <a:t>How Does Machine Learning work?</a:t>
            </a:r>
          </a:p>
          <a:p>
            <a:pPr algn="just"/>
            <a:r>
              <a:rPr lang="en-IN" dirty="0">
                <a:latin typeface="Times New Roman" panose="02020603050405020304" pitchFamily="18" charset="0"/>
                <a:cs typeface="Times New Roman" panose="02020603050405020304" pitchFamily="18" charset="0"/>
              </a:rPr>
              <a:t>We gather a data set, which is split into a training set or test set so we can check how are model generalizes the new data. There are different types of models and algorithms such as linear regression, decision trees, neural networks etc.</a:t>
            </a:r>
          </a:p>
          <a:p>
            <a:pPr algn="just"/>
            <a:r>
              <a:rPr lang="en-IN" dirty="0">
                <a:latin typeface="Times New Roman" panose="02020603050405020304" pitchFamily="18" charset="0"/>
                <a:cs typeface="Times New Roman" panose="02020603050405020304" pitchFamily="18" charset="0"/>
              </a:rPr>
              <a:t>We feed the data into the model, which has internal parameters. We define a loss function and an optimizer to calculate discrepancy and adjust the parameters to reduce the discrepancy. </a:t>
            </a:r>
          </a:p>
          <a:p>
            <a:pPr algn="just"/>
            <a:r>
              <a:rPr lang="en-IN" dirty="0">
                <a:latin typeface="Times New Roman" panose="02020603050405020304" pitchFamily="18" charset="0"/>
                <a:cs typeface="Times New Roman" panose="02020603050405020304" pitchFamily="18" charset="0"/>
              </a:rPr>
              <a:t>We use test data to measure accuracy, error rate etc. Once the model works well, we can use it on new, real world data. </a:t>
            </a:r>
          </a:p>
          <a:p>
            <a:pPr marL="0" indent="0" algn="just">
              <a:buNone/>
            </a:pPr>
            <a:endParaRPr lang="en-IN" dirty="0"/>
          </a:p>
          <a:p>
            <a:pPr marL="0" indent="0" algn="just">
              <a:buNone/>
            </a:pPr>
            <a:endParaRPr lang="en-IN" dirty="0"/>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6EBE4-A28D-B2FA-0E3E-1A045839C461}"/>
              </a:ext>
            </a:extLst>
          </p:cNvPr>
          <p:cNvSpPr>
            <a:spLocks noGrp="1"/>
          </p:cNvSpPr>
          <p:nvPr>
            <p:ph type="title"/>
          </p:nvPr>
        </p:nvSpPr>
        <p:spPr>
          <a:xfrm>
            <a:off x="0" y="18255"/>
            <a:ext cx="2302565" cy="1325563"/>
          </a:xfrm>
        </p:spPr>
        <p:txBody>
          <a:bodyPr/>
          <a:lstStyle/>
          <a:p>
            <a:r>
              <a:rPr lang="en-IN" dirty="0">
                <a:latin typeface="Times New Roman" panose="02020603050405020304" pitchFamily="18" charset="0"/>
                <a:cs typeface="Times New Roman" panose="02020603050405020304" pitchFamily="18" charset="0"/>
              </a:rPr>
              <a:t>Purpose</a:t>
            </a:r>
          </a:p>
        </p:txBody>
      </p:sp>
      <p:sp>
        <p:nvSpPr>
          <p:cNvPr id="3" name="Content Placeholder 2">
            <a:extLst>
              <a:ext uri="{FF2B5EF4-FFF2-40B4-BE49-F238E27FC236}">
                <a16:creationId xmlns:a16="http://schemas.microsoft.com/office/drawing/2014/main" id="{9217DB6A-CD5C-A49B-5A72-FA6C778AF4F0}"/>
              </a:ext>
            </a:extLst>
          </p:cNvPr>
          <p:cNvSpPr>
            <a:spLocks noGrp="1"/>
          </p:cNvSpPr>
          <p:nvPr>
            <p:ph idx="1"/>
          </p:nvPr>
        </p:nvSpPr>
        <p:spPr>
          <a:xfrm>
            <a:off x="89451" y="954156"/>
            <a:ext cx="11996531" cy="5675243"/>
          </a:xfrm>
        </p:spPr>
        <p:txBody>
          <a:bodyPr>
            <a:normAutofit/>
          </a:bodyPr>
          <a:lstStyle/>
          <a:p>
            <a:pPr marL="0" indent="0" algn="just">
              <a:buNone/>
            </a:pPr>
            <a:endParaRPr lang="en-IN"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today’s world, machine learning is used across healthcare, finance, and personal data applications. However, training ML models requires access to raw data which often contains sensitive or confidential information. This raises serious privacy concerns due to the risk of data being exposed or leaked.</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Privacy preserving machine learning aims to solve this problem by allowing models to be trained on encrypted data so that no one, including the model trainer can see the actual data. One of the most promising methods to achieve this is Homomorphic Encryption which is a  cryptographic technique that allows mathematical operations to be performed directly on encrypted data.</a:t>
            </a:r>
          </a:p>
          <a:p>
            <a:endParaRPr lang="en-IN" dirty="0"/>
          </a:p>
        </p:txBody>
      </p:sp>
    </p:spTree>
    <p:extLst>
      <p:ext uri="{BB962C8B-B14F-4D97-AF65-F5344CB8AC3E}">
        <p14:creationId xmlns:p14="http://schemas.microsoft.com/office/powerpoint/2010/main" val="32112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a:xfrm>
            <a:off x="0" y="-181527"/>
            <a:ext cx="10515600" cy="1325563"/>
          </a:xfrm>
        </p:spPr>
        <p:txBody>
          <a:bodyPr/>
          <a:lstStyle/>
          <a:p>
            <a:r>
              <a:rPr lang="en-IN" dirty="0">
                <a:latin typeface="Times New Roman" panose="02020603050405020304" pitchFamily="18" charset="0"/>
                <a:cs typeface="Times New Roman" panose="02020603050405020304" pitchFamily="18" charset="0"/>
              </a:rPr>
              <a:t>Literature Review</a:t>
            </a: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a:xfrm>
            <a:off x="152400" y="914400"/>
            <a:ext cx="11887200" cy="5396948"/>
          </a:xfrm>
        </p:spPr>
        <p:txBody>
          <a:bodyPr>
            <a:normAutofit/>
          </a:bodyPr>
          <a:lstStyle/>
          <a:p>
            <a:pPr marL="0" indent="0" algn="just">
              <a:buNone/>
            </a:pPr>
            <a:r>
              <a:rPr lang="en-IN" b="1" dirty="0">
                <a:latin typeface="Times New Roman" panose="02020603050405020304" pitchFamily="18" charset="0"/>
                <a:cs typeface="Times New Roman" panose="02020603050405020304" pitchFamily="18" charset="0"/>
              </a:rPr>
              <a:t>CryptoNets – Applying Neural Networks To Encrypted Data With High                                      Throughput And Accuracy </a:t>
            </a:r>
          </a:p>
          <a:p>
            <a:pPr algn="just"/>
            <a:r>
              <a:rPr lang="en-US" dirty="0">
                <a:latin typeface="Times New Roman" panose="02020603050405020304" pitchFamily="18" charset="0"/>
                <a:cs typeface="Times New Roman" panose="02020603050405020304" pitchFamily="18" charset="0"/>
              </a:rPr>
              <a:t>They aim to present a method to convert learned neural networks to CryptoNets, neural networks that can be applied to encrypted data. The encryption ensures the data remains confidential.</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 CryptoNets show accuracy however they are limited to simple models.</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This scheme is a leveled homomorphic encryption scheme, which allows adding and multiplying encrypted messages but requires that one knows in advance the complexity of the arithmetic circuit that is to be applied.</a:t>
            </a:r>
            <a:r>
              <a:rPr lang="en-US" dirty="0"/>
              <a:t> We must decide how many multiplications or “levels” our computation will need beforehand.</a:t>
            </a:r>
            <a:endParaRPr lang="en-US" dirty="0">
              <a:latin typeface="Times New Roman" panose="02020603050405020304" pitchFamily="18" charset="0"/>
              <a:cs typeface="Times New Roman" panose="02020603050405020304" pitchFamily="18" charset="0"/>
            </a:endParaRPr>
          </a:p>
          <a:p>
            <a:pPr marL="0" indent="0" algn="just">
              <a:buNone/>
            </a:pPr>
            <a:endParaRPr lang="en-US" dirty="0">
              <a:latin typeface="Times New Roman" panose="02020603050405020304" pitchFamily="18" charset="0"/>
              <a:cs typeface="Times New Roman" panose="02020603050405020304" pitchFamily="18" charset="0"/>
            </a:endParaRPr>
          </a:p>
          <a:p>
            <a:pPr algn="just"/>
            <a:endParaRPr lang="en-IN" dirty="0">
              <a:latin typeface="Times New Roman" panose="02020603050405020304" pitchFamily="18" charset="0"/>
              <a:cs typeface="Times New Roman" panose="02020603050405020304" pitchFamily="18" charset="0"/>
            </a:endParaRPr>
          </a:p>
          <a:p>
            <a:pPr marL="0" indent="0" algn="ctr">
              <a:buNone/>
            </a:pPr>
            <a:endParaRPr lang="en-IN" dirty="0"/>
          </a:p>
        </p:txBody>
      </p:sp>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9F025-E3E4-D9C1-6D94-4D1990CD8D52}"/>
              </a:ext>
            </a:extLst>
          </p:cNvPr>
          <p:cNvSpPr>
            <a:spLocks noGrp="1"/>
          </p:cNvSpPr>
          <p:nvPr>
            <p:ph type="title"/>
          </p:nvPr>
        </p:nvSpPr>
        <p:spPr>
          <a:xfrm>
            <a:off x="0" y="-201405"/>
            <a:ext cx="10515600" cy="1325563"/>
          </a:xfrm>
        </p:spPr>
        <p:txBody>
          <a:bodyPr/>
          <a:lstStyle/>
          <a:p>
            <a:r>
              <a:rPr lang="en-IN" dirty="0">
                <a:latin typeface="Times New Roman" panose="02020603050405020304" pitchFamily="18" charset="0"/>
                <a:cs typeface="Times New Roman" panose="02020603050405020304" pitchFamily="18" charset="0"/>
              </a:rPr>
              <a:t>Literature Review </a:t>
            </a:r>
          </a:p>
        </p:txBody>
      </p:sp>
      <p:sp>
        <p:nvSpPr>
          <p:cNvPr id="3" name="Content Placeholder 2">
            <a:extLst>
              <a:ext uri="{FF2B5EF4-FFF2-40B4-BE49-F238E27FC236}">
                <a16:creationId xmlns:a16="http://schemas.microsoft.com/office/drawing/2014/main" id="{141C8257-2B86-3DD7-43F6-DFD4C2DD72F8}"/>
              </a:ext>
            </a:extLst>
          </p:cNvPr>
          <p:cNvSpPr>
            <a:spLocks noGrp="1"/>
          </p:cNvSpPr>
          <p:nvPr>
            <p:ph idx="1"/>
          </p:nvPr>
        </p:nvSpPr>
        <p:spPr>
          <a:xfrm>
            <a:off x="0" y="782014"/>
            <a:ext cx="11999844" cy="5608845"/>
          </a:xfrm>
        </p:spPr>
        <p:txBody>
          <a:bodyPr>
            <a:normAutofit/>
          </a:bodyPr>
          <a:lstStyle/>
          <a:p>
            <a:pPr marL="0" indent="0" algn="just">
              <a:buNone/>
            </a:pPr>
            <a:r>
              <a:rPr lang="en-US" b="1" dirty="0">
                <a:latin typeface="Times New Roman" panose="02020603050405020304" pitchFamily="18" charset="0"/>
                <a:cs typeface="Times New Roman" panose="02020603050405020304" pitchFamily="18" charset="0"/>
              </a:rPr>
              <a:t>CKKS scheme - Homomorphic Encryption for Arithmetic of Approximate Numbers</a:t>
            </a:r>
          </a:p>
          <a:p>
            <a:pPr algn="just"/>
            <a:r>
              <a:rPr lang="en-US" dirty="0">
                <a:latin typeface="Times New Roman" panose="02020603050405020304" pitchFamily="18" charset="0"/>
                <a:cs typeface="Times New Roman" panose="02020603050405020304" pitchFamily="18" charset="0"/>
              </a:rPr>
              <a:t>Most homomorphic schemes work on exact integers. This paper aims to propose a scheme that works on encrypted values.</a:t>
            </a:r>
          </a:p>
          <a:p>
            <a:pPr algn="just"/>
            <a:r>
              <a:rPr lang="en-US" dirty="0">
                <a:latin typeface="Times New Roman" panose="02020603050405020304" pitchFamily="18" charset="0"/>
                <a:cs typeface="Times New Roman" panose="02020603050405020304" pitchFamily="18" charset="0"/>
              </a:rPr>
              <a:t>In real-world computing, especially in machine learning, we deal with real numbers (e.g. 3.14, 0.056) and approximate arithmetic.</a:t>
            </a:r>
          </a:p>
          <a:p>
            <a:pPr algn="just"/>
            <a:r>
              <a:rPr lang="en-US" dirty="0">
                <a:latin typeface="Times New Roman" panose="02020603050405020304" pitchFamily="18" charset="0"/>
                <a:cs typeface="Times New Roman" panose="02020603050405020304" pitchFamily="18" charset="0"/>
              </a:rPr>
              <a:t>Essentially a number such as 3.1415 is multiplied with a large scaling factor, such as 2^20, the resulting integer is then encrypted, instead of the real number, however on multiplying these ciphertexts, the scale grows and to rescale it, they divide the ciphertext by the scale again.</a:t>
            </a:r>
          </a:p>
          <a:p>
            <a:pPr algn="just"/>
            <a:r>
              <a:rPr lang="en-US" dirty="0">
                <a:latin typeface="Times New Roman" panose="02020603050405020304" pitchFamily="18" charset="0"/>
                <a:cs typeface="Times New Roman" panose="02020603050405020304" pitchFamily="18" charset="0"/>
              </a:rPr>
              <a:t>However this constant cycle of scaling and rescaling accumulates errors, thus compromising on precision.</a:t>
            </a:r>
          </a:p>
        </p:txBody>
      </p:sp>
    </p:spTree>
    <p:extLst>
      <p:ext uri="{BB962C8B-B14F-4D97-AF65-F5344CB8AC3E}">
        <p14:creationId xmlns:p14="http://schemas.microsoft.com/office/powerpoint/2010/main" val="3670348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3B83D-5A48-909F-4827-6CF5B3062B0D}"/>
              </a:ext>
            </a:extLst>
          </p:cNvPr>
          <p:cNvSpPr>
            <a:spLocks noGrp="1"/>
          </p:cNvSpPr>
          <p:nvPr>
            <p:ph type="title"/>
          </p:nvPr>
        </p:nvSpPr>
        <p:spPr>
          <a:xfrm>
            <a:off x="0" y="-191467"/>
            <a:ext cx="4618383" cy="1325563"/>
          </a:xfrm>
        </p:spPr>
        <p:txBody>
          <a:bodyPr/>
          <a:lstStyle/>
          <a:p>
            <a:r>
              <a:rPr lang="en-IN" dirty="0">
                <a:latin typeface="Times New Roman" panose="02020603050405020304" pitchFamily="18" charset="0"/>
                <a:cs typeface="Times New Roman" panose="02020603050405020304" pitchFamily="18" charset="0"/>
              </a:rPr>
              <a:t>Literature Review </a:t>
            </a:r>
            <a:endParaRPr lang="en-IN" dirty="0"/>
          </a:p>
        </p:txBody>
      </p:sp>
      <p:sp>
        <p:nvSpPr>
          <p:cNvPr id="3" name="Content Placeholder 2">
            <a:extLst>
              <a:ext uri="{FF2B5EF4-FFF2-40B4-BE49-F238E27FC236}">
                <a16:creationId xmlns:a16="http://schemas.microsoft.com/office/drawing/2014/main" id="{5C334FA4-19D6-D363-ED29-7711EC564F11}"/>
              </a:ext>
            </a:extLst>
          </p:cNvPr>
          <p:cNvSpPr>
            <a:spLocks noGrp="1"/>
          </p:cNvSpPr>
          <p:nvPr>
            <p:ph idx="1"/>
          </p:nvPr>
        </p:nvSpPr>
        <p:spPr>
          <a:xfrm>
            <a:off x="218661" y="844826"/>
            <a:ext cx="11973339" cy="5744817"/>
          </a:xfrm>
        </p:spPr>
        <p:txBody>
          <a:bodyPr>
            <a:normAutofit lnSpcReduction="10000"/>
          </a:bodyPr>
          <a:lstStyle/>
          <a:p>
            <a:pPr marL="0" indent="0" algn="just">
              <a:buNone/>
            </a:pPr>
            <a:r>
              <a:rPr lang="en-US" b="1" dirty="0">
                <a:latin typeface="Times New Roman" panose="02020603050405020304" pitchFamily="18" charset="0"/>
                <a:cs typeface="Times New Roman" panose="02020603050405020304" pitchFamily="18" charset="0"/>
              </a:rPr>
              <a:t>Practical Privacy-Preserving Machine Learning using Fully Homomorphic Encryption</a:t>
            </a:r>
            <a:r>
              <a:rPr lang="en-US" dirty="0">
                <a:latin typeface="Times New Roman" panose="02020603050405020304" pitchFamily="18" charset="0"/>
                <a:cs typeface="Times New Roman" panose="02020603050405020304" pitchFamily="18" charset="0"/>
              </a:rPr>
              <a:t> -Brand &amp; Pradel (2023)</a:t>
            </a:r>
          </a:p>
          <a:p>
            <a:pPr algn="just"/>
            <a:r>
              <a:rPr lang="en-US" dirty="0">
                <a:latin typeface="Times New Roman" panose="02020603050405020304" pitchFamily="18" charset="0"/>
                <a:cs typeface="Times New Roman" panose="02020603050405020304" pitchFamily="18" charset="0"/>
              </a:rPr>
              <a:t>Unlike many works that only do encrypted </a:t>
            </a:r>
            <a:r>
              <a:rPr lang="en-US" i="1" dirty="0">
                <a:latin typeface="Times New Roman" panose="02020603050405020304" pitchFamily="18" charset="0"/>
                <a:cs typeface="Times New Roman" panose="02020603050405020304" pitchFamily="18" charset="0"/>
              </a:rPr>
              <a:t>inference</a:t>
            </a:r>
            <a:r>
              <a:rPr lang="en-US" dirty="0">
                <a:latin typeface="Times New Roman" panose="02020603050405020304" pitchFamily="18" charset="0"/>
                <a:cs typeface="Times New Roman" panose="02020603050405020304" pitchFamily="18" charset="0"/>
              </a:rPr>
              <a:t>, this study shows  </a:t>
            </a:r>
            <a:r>
              <a:rPr lang="en-US" b="1" dirty="0">
                <a:latin typeface="Times New Roman" panose="02020603050405020304" pitchFamily="18" charset="0"/>
                <a:cs typeface="Times New Roman" panose="02020603050405020304" pitchFamily="18" charset="0"/>
              </a:rPr>
              <a:t>training</a:t>
            </a:r>
            <a:r>
              <a:rPr lang="en-US" dirty="0">
                <a:latin typeface="Times New Roman" panose="02020603050405020304" pitchFamily="18" charset="0"/>
                <a:cs typeface="Times New Roman" panose="02020603050405020304" pitchFamily="18" charset="0"/>
              </a:rPr>
              <a:t> a binary classifier using fully homomorphic encryption.</a:t>
            </a:r>
          </a:p>
          <a:p>
            <a:pPr algn="just"/>
            <a:endParaRPr lang="en-US" dirty="0">
              <a:latin typeface="Times New Roman" panose="02020603050405020304" pitchFamily="18" charset="0"/>
              <a:cs typeface="Times New Roman" panose="02020603050405020304" pitchFamily="18" charset="0"/>
            </a:endParaRPr>
          </a:p>
          <a:p>
            <a:pPr marL="0" indent="0" algn="just">
              <a:buNone/>
            </a:pPr>
            <a:endParaRPr lang="en-US" dirty="0">
              <a:latin typeface="Times New Roman" panose="02020603050405020304" pitchFamily="18" charset="0"/>
              <a:cs typeface="Times New Roman" panose="02020603050405020304" pitchFamily="18" charset="0"/>
            </a:endParaRPr>
          </a:p>
          <a:p>
            <a:pPr marL="0" indent="0" algn="just">
              <a:buNone/>
            </a:pPr>
            <a:endParaRPr lang="en-US" dirty="0">
              <a:latin typeface="Times New Roman" panose="02020603050405020304" pitchFamily="18" charset="0"/>
              <a:cs typeface="Times New Roman" panose="02020603050405020304" pitchFamily="18" charset="0"/>
            </a:endParaRPr>
          </a:p>
          <a:p>
            <a:pPr marL="0" indent="0" algn="just">
              <a:buNone/>
            </a:pPr>
            <a:endParaRPr lang="en-IN"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The study uses FHE to train a small binary classifier. They optimized arithmetic operations and ciphertext management to reduce compute cost.</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However it only works on simple models and it's not suitable yet for large deep networks. It's scalability remains limited.</a:t>
            </a:r>
            <a:endParaRPr lang="en-IN" dirty="0">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53CEDB74-1CDF-E8FF-1EB2-D93BEECF4C95}"/>
              </a:ext>
            </a:extLst>
          </p:cNvPr>
          <p:cNvSpPr>
            <a:spLocks noChangeArrowheads="1"/>
          </p:cNvSpPr>
          <p:nvPr/>
        </p:nvSpPr>
        <p:spPr bwMode="auto">
          <a:xfrm>
            <a:off x="218661" y="2507903"/>
            <a:ext cx="12059712"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buFontTx/>
              <a:buChar char="•"/>
            </a:pPr>
            <a:r>
              <a:rPr lang="en-US" altLang="en-US" sz="2800" dirty="0">
                <a:latin typeface="Times New Roman" panose="02020603050405020304" pitchFamily="18" charset="0"/>
                <a:cs typeface="Times New Roman" panose="02020603050405020304" pitchFamily="18" charset="0"/>
              </a:rPr>
              <a:t>Most HE research only supports encrypted </a:t>
            </a:r>
            <a:r>
              <a:rPr lang="en-US" altLang="en-US" sz="2800" dirty="0" err="1">
                <a:latin typeface="Times New Roman" panose="02020603050405020304" pitchFamily="18" charset="0"/>
                <a:cs typeface="Times New Roman" panose="02020603050405020304" pitchFamily="18" charset="0"/>
              </a:rPr>
              <a:t>inference.This</a:t>
            </a:r>
            <a:r>
              <a:rPr lang="en-US" altLang="en-US" sz="2800" dirty="0">
                <a:latin typeface="Times New Roman" panose="02020603050405020304" pitchFamily="18" charset="0"/>
                <a:cs typeface="Times New Roman" panose="02020603050405020304" pitchFamily="18" charset="0"/>
              </a:rPr>
              <a:t> work shows training on</a:t>
            </a:r>
          </a:p>
          <a:p>
            <a:pPr lvl="0" eaLnBrk="0" fontAlgn="base" hangingPunct="0">
              <a:spcBef>
                <a:spcPct val="0"/>
              </a:spcBef>
              <a:spcAft>
                <a:spcPct val="0"/>
              </a:spcAft>
            </a:pPr>
            <a:r>
              <a:rPr lang="en-US" altLang="en-US" sz="2800" dirty="0">
                <a:latin typeface="Times New Roman" panose="02020603050405020304" pitchFamily="18" charset="0"/>
                <a:cs typeface="Times New Roman" panose="02020603050405020304" pitchFamily="18" charset="0"/>
              </a:rPr>
              <a:t> encrypted data can be realistically fast.</a:t>
            </a:r>
          </a:p>
          <a:p>
            <a:pPr lvl="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011472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2EBFE-B5D4-3F0E-C38C-A57CCB424FCB}"/>
              </a:ext>
            </a:extLst>
          </p:cNvPr>
          <p:cNvSpPr>
            <a:spLocks noGrp="1"/>
          </p:cNvSpPr>
          <p:nvPr>
            <p:ph type="title"/>
          </p:nvPr>
        </p:nvSpPr>
        <p:spPr>
          <a:xfrm>
            <a:off x="119269" y="0"/>
            <a:ext cx="4509052" cy="1095928"/>
          </a:xfrm>
        </p:spPr>
        <p:txBody>
          <a:bodyPr/>
          <a:lstStyle/>
          <a:p>
            <a:r>
              <a:rPr lang="en-IN" dirty="0">
                <a:latin typeface="Times New Roman" panose="02020603050405020304" pitchFamily="18" charset="0"/>
                <a:cs typeface="Times New Roman" panose="02020603050405020304" pitchFamily="18" charset="0"/>
              </a:rPr>
              <a:t>Literature Review </a:t>
            </a:r>
            <a:endParaRPr lang="en-IN" dirty="0"/>
          </a:p>
        </p:txBody>
      </p:sp>
      <p:sp>
        <p:nvSpPr>
          <p:cNvPr id="3" name="Content Placeholder 2">
            <a:extLst>
              <a:ext uri="{FF2B5EF4-FFF2-40B4-BE49-F238E27FC236}">
                <a16:creationId xmlns:a16="http://schemas.microsoft.com/office/drawing/2014/main" id="{841A2B45-F029-4D1F-7F20-5570C05245E3}"/>
              </a:ext>
            </a:extLst>
          </p:cNvPr>
          <p:cNvSpPr>
            <a:spLocks noGrp="1"/>
          </p:cNvSpPr>
          <p:nvPr>
            <p:ph idx="1"/>
          </p:nvPr>
        </p:nvSpPr>
        <p:spPr>
          <a:xfrm>
            <a:off x="119269" y="1142999"/>
            <a:ext cx="11956773" cy="5565913"/>
          </a:xfrm>
        </p:spPr>
        <p:txBody>
          <a:bodyPr>
            <a:normAutofit/>
          </a:bodyPr>
          <a:lstStyle/>
          <a:p>
            <a:pPr marL="0" indent="0" algn="just">
              <a:buNone/>
            </a:pPr>
            <a:r>
              <a:rPr lang="en-US" b="1" dirty="0">
                <a:latin typeface="Times New Roman" panose="02020603050405020304" pitchFamily="18" charset="0"/>
                <a:cs typeface="Times New Roman" panose="02020603050405020304" pitchFamily="18" charset="0"/>
              </a:rPr>
              <a:t>Privacy-Preserving Embedding via Look-Up Table Evaluation with Fully Homomorphic Encryption (ICML 2024)</a:t>
            </a:r>
          </a:p>
          <a:p>
            <a:pPr algn="just"/>
            <a:r>
              <a:rPr lang="en-US" dirty="0">
                <a:latin typeface="Times New Roman" panose="02020603050405020304" pitchFamily="18" charset="0"/>
                <a:cs typeface="Times New Roman" panose="02020603050405020304" pitchFamily="18" charset="0"/>
              </a:rPr>
              <a:t>The study solves the challenge of running embedding layers on encrypted data.</a:t>
            </a:r>
          </a:p>
          <a:p>
            <a:pPr algn="just"/>
            <a:r>
              <a:rPr lang="en-US" dirty="0">
                <a:latin typeface="Times New Roman" panose="02020603050405020304" pitchFamily="18" charset="0"/>
                <a:cs typeface="Times New Roman" panose="02020603050405020304" pitchFamily="18" charset="0"/>
              </a:rPr>
              <a:t>Introduces an Encrypted Indicator Function to enable efficient HE-based embedding look-ups.</a:t>
            </a:r>
          </a:p>
          <a:p>
            <a:pPr algn="just"/>
            <a:r>
              <a:rPr lang="en-US" dirty="0">
                <a:latin typeface="Times New Roman" panose="02020603050405020304" pitchFamily="18" charset="0"/>
                <a:cs typeface="Times New Roman" panose="02020603050405020304" pitchFamily="18" charset="0"/>
              </a:rPr>
              <a:t>Embeddings cannot normally be computed on encrypted inputs. However this study  unlocks privacy-preserving NLP, such as encrypted text classification or sentiment analysis.</a:t>
            </a:r>
          </a:p>
          <a:p>
            <a:pPr algn="just"/>
            <a:r>
              <a:rPr lang="en-US" dirty="0">
                <a:latin typeface="Times New Roman" panose="02020603050405020304" pitchFamily="18" charset="0"/>
                <a:cs typeface="Times New Roman" panose="02020603050405020304" pitchFamily="18" charset="0"/>
              </a:rPr>
              <a:t>However, the HE operations remain heavier than plaintext and still complex to scale to huge models.</a:t>
            </a:r>
          </a:p>
          <a:p>
            <a:pPr algn="just"/>
            <a:endParaRPr lang="en-IN"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934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86112-8096-78EF-609E-28E7D387E0FF}"/>
              </a:ext>
            </a:extLst>
          </p:cNvPr>
          <p:cNvSpPr>
            <a:spLocks noGrp="1"/>
          </p:cNvSpPr>
          <p:nvPr>
            <p:ph type="title"/>
          </p:nvPr>
        </p:nvSpPr>
        <p:spPr>
          <a:xfrm>
            <a:off x="0" y="-221284"/>
            <a:ext cx="4359965" cy="1325563"/>
          </a:xfrm>
        </p:spPr>
        <p:txBody>
          <a:bodyPr/>
          <a:lstStyle/>
          <a:p>
            <a:r>
              <a:rPr lang="en-IN" dirty="0">
                <a:latin typeface="Times New Roman" panose="02020603050405020304" pitchFamily="18" charset="0"/>
                <a:cs typeface="Times New Roman" panose="02020603050405020304" pitchFamily="18" charset="0"/>
              </a:rPr>
              <a:t>Literature Review </a:t>
            </a:r>
            <a:endParaRPr lang="en-IN" dirty="0"/>
          </a:p>
        </p:txBody>
      </p:sp>
      <p:sp>
        <p:nvSpPr>
          <p:cNvPr id="3" name="Content Placeholder 2">
            <a:extLst>
              <a:ext uri="{FF2B5EF4-FFF2-40B4-BE49-F238E27FC236}">
                <a16:creationId xmlns:a16="http://schemas.microsoft.com/office/drawing/2014/main" id="{28FA91BA-EBD9-4685-F1B7-CCEF9783C21B}"/>
              </a:ext>
            </a:extLst>
          </p:cNvPr>
          <p:cNvSpPr>
            <a:spLocks noGrp="1"/>
          </p:cNvSpPr>
          <p:nvPr>
            <p:ph idx="1"/>
          </p:nvPr>
        </p:nvSpPr>
        <p:spPr>
          <a:xfrm>
            <a:off x="159025" y="755374"/>
            <a:ext cx="11807687" cy="5913783"/>
          </a:xfrm>
        </p:spPr>
        <p:txBody>
          <a:bodyPr/>
          <a:lstStyle/>
          <a:p>
            <a:pPr marL="0" indent="0" algn="just">
              <a:buNone/>
            </a:pPr>
            <a:r>
              <a:rPr lang="en-US" b="1" dirty="0">
                <a:latin typeface="Times New Roman" panose="02020603050405020304" pitchFamily="18" charset="0"/>
                <a:cs typeface="Times New Roman" panose="02020603050405020304" pitchFamily="18" charset="0"/>
              </a:rPr>
              <a:t>Efficient and Privacy-Preserving Federated Learning Based on Full Homomorphic Encryption (2024)</a:t>
            </a:r>
          </a:p>
          <a:p>
            <a:pPr marL="0" indent="0" algn="just">
              <a:buNone/>
            </a:pPr>
            <a:endParaRPr lang="en-US" b="1"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This study proposes a federated learning system where all client updates are encrypted using Fully Homomorphic Encryption (FHE).</a:t>
            </a:r>
          </a:p>
          <a:p>
            <a:pPr algn="just"/>
            <a:r>
              <a:rPr lang="en-US" dirty="0">
                <a:latin typeface="Times New Roman" panose="02020603050405020304" pitchFamily="18" charset="0"/>
                <a:cs typeface="Times New Roman" panose="02020603050405020304" pitchFamily="18" charset="0"/>
              </a:rPr>
              <a:t>It allows the server to aggregate encrypted updates without ever accessing raw data.</a:t>
            </a:r>
          </a:p>
          <a:p>
            <a:pPr algn="just"/>
            <a:r>
              <a:rPr lang="en-US" dirty="0">
                <a:latin typeface="Times New Roman" panose="02020603050405020304" pitchFamily="18" charset="0"/>
                <a:cs typeface="Times New Roman" panose="02020603050405020304" pitchFamily="18" charset="0"/>
              </a:rPr>
              <a:t>Traditional FL still leaks information through gradients.</a:t>
            </a:r>
          </a:p>
          <a:p>
            <a:pPr algn="just"/>
            <a:r>
              <a:rPr lang="en-US" dirty="0">
                <a:latin typeface="Times New Roman" panose="02020603050405020304" pitchFamily="18" charset="0"/>
                <a:cs typeface="Times New Roman" panose="02020603050405020304" pitchFamily="18" charset="0"/>
              </a:rPr>
              <a:t>However, FHE ensures end-to-end data confidentiality during training.</a:t>
            </a:r>
          </a:p>
          <a:p>
            <a:pPr algn="just"/>
            <a:r>
              <a:rPr lang="en-US" dirty="0">
                <a:latin typeface="Times New Roman" panose="02020603050405020304" pitchFamily="18" charset="0"/>
                <a:cs typeface="Times New Roman" panose="02020603050405020304" pitchFamily="18" charset="0"/>
              </a:rPr>
              <a:t>The study integrates FHE into both horizontal and vertical federated learning.</a:t>
            </a:r>
          </a:p>
          <a:p>
            <a:pPr algn="just"/>
            <a:r>
              <a:rPr lang="en-US" dirty="0">
                <a:latin typeface="Times New Roman" panose="02020603050405020304" pitchFamily="18" charset="0"/>
                <a:cs typeface="Times New Roman" panose="02020603050405020304" pitchFamily="18" charset="0"/>
              </a:rPr>
              <a:t>Since FHE is still computationally expensive the  training time increases.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27391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a:xfrm>
            <a:off x="0" y="-69574"/>
            <a:ext cx="10515600" cy="1004888"/>
          </a:xfrm>
        </p:spPr>
        <p:txBody>
          <a:bodyPr/>
          <a:lstStyle/>
          <a:p>
            <a:r>
              <a:rPr lang="en-IN"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a:xfrm>
            <a:off x="79514" y="1222513"/>
            <a:ext cx="11618842" cy="5406887"/>
          </a:xfrm>
        </p:spPr>
        <p:txBody>
          <a:bodyPr>
            <a:normAutofit lnSpcReduction="10000"/>
          </a:bodyPr>
          <a:lstStyle/>
          <a:p>
            <a:pPr algn="just"/>
            <a:r>
              <a:rPr lang="en-US" dirty="0">
                <a:latin typeface="Times New Roman" panose="02020603050405020304" pitchFamily="18" charset="0"/>
                <a:cs typeface="Times New Roman" panose="02020603050405020304" pitchFamily="18" charset="0"/>
              </a:rPr>
              <a:t>Traditional machine learning models require access to unencrypted data, which creates privacy risks for sensitive information.</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Existing encryption-based approaches are promising but often slow and computationally expensive, making them difficult to use in real world scenarios.</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Therefore, there is a need to study how to train ML models on encrypted data efficiently, while maintaining model accuracy and privacy.</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From the above studies we can see the approaches despite being advanced are approximate (not exact), error accumulates as heavier computation is involved. The schemes are slow and heavy</a:t>
            </a:r>
          </a:p>
          <a:p>
            <a:pPr marL="0" indent="0" algn="just">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47078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a:xfrm>
            <a:off x="281608" y="292099"/>
            <a:ext cx="10515600" cy="777875"/>
          </a:xfrm>
        </p:spPr>
        <p:txBody>
          <a:bodyPr/>
          <a:lstStyle/>
          <a:p>
            <a:r>
              <a:rPr lang="en-IN" dirty="0">
                <a:latin typeface="Times New Roman" panose="02020603050405020304" pitchFamily="18" charset="0"/>
                <a:cs typeface="Times New Roman" panose="02020603050405020304" pitchFamily="18" charset="0"/>
              </a:rPr>
              <a:t>Proposed Solution</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a:xfrm>
            <a:off x="281608" y="1182757"/>
            <a:ext cx="11072192" cy="4994206"/>
          </a:xfrm>
        </p:spPr>
        <p:txBody>
          <a:bodyPr/>
          <a:lstStyle/>
          <a:p>
            <a:pPr algn="just"/>
            <a:r>
              <a:rPr lang="en-IN" dirty="0">
                <a:latin typeface="Times New Roman" panose="02020603050405020304" pitchFamily="18" charset="0"/>
                <a:cs typeface="Times New Roman" panose="02020603050405020304" pitchFamily="18" charset="0"/>
              </a:rPr>
              <a:t>When we encrypt data, we cant do computations on it, however </a:t>
            </a:r>
            <a:r>
              <a:rPr lang="en-US" dirty="0">
                <a:latin typeface="Times New Roman" panose="02020603050405020304" pitchFamily="18" charset="0"/>
                <a:cs typeface="Times New Roman" panose="02020603050405020304" pitchFamily="18" charset="0"/>
              </a:rPr>
              <a:t>with homomorphic encryption , we can perform additions and multiplications on encrypted values and when we decrypt the result, it matches with what we would’ve gotten if we did the same math on the raw unencrypted data.</a:t>
            </a:r>
          </a:p>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The proposed solution is to develop a prototype that demonstrates training of a simple ML model for e.g. small neural network on encrypted data using Homomorphic Encryption techniques.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77724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a:xfrm>
            <a:off x="122583" y="103325"/>
            <a:ext cx="2729948" cy="1325563"/>
          </a:xfrm>
        </p:spPr>
        <p:txBody>
          <a:bodyPr/>
          <a:lstStyle/>
          <a:p>
            <a:r>
              <a:rPr lang="en-IN" dirty="0">
                <a:latin typeface="Times New Roman" panose="02020603050405020304" pitchFamily="18" charset="0"/>
                <a:cs typeface="Times New Roman" panose="02020603050405020304" pitchFamily="18" charset="0"/>
              </a:rPr>
              <a:t>Objectives</a:t>
            </a:r>
          </a:p>
        </p:txBody>
      </p:sp>
      <p:sp>
        <p:nvSpPr>
          <p:cNvPr id="4" name="Rectangle 1">
            <a:extLst>
              <a:ext uri="{FF2B5EF4-FFF2-40B4-BE49-F238E27FC236}">
                <a16:creationId xmlns:a16="http://schemas.microsoft.com/office/drawing/2014/main" id="{1F4EAC39-94D5-1322-A745-BEADC902F8DE}"/>
              </a:ext>
            </a:extLst>
          </p:cNvPr>
          <p:cNvSpPr>
            <a:spLocks noGrp="1" noChangeArrowheads="1"/>
          </p:cNvSpPr>
          <p:nvPr>
            <p:ph idx="1"/>
          </p:nvPr>
        </p:nvSpPr>
        <p:spPr bwMode="auto">
          <a:xfrm>
            <a:off x="122583" y="1329070"/>
            <a:ext cx="11685103"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study and understand the principles of Homomorphic Encryption and its use in ML.</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algn="just" eaLnBrk="0" fontAlgn="base" hangingPunct="0">
              <a:lnSpc>
                <a:spcPct val="100000"/>
              </a:lnSpc>
              <a:spcBef>
                <a:spcPct val="0"/>
              </a:spcBef>
              <a:spcAft>
                <a:spcPct val="0"/>
              </a:spcAft>
            </a:pPr>
            <a:r>
              <a:rPr lang="en-US" dirty="0">
                <a:latin typeface="Times New Roman" panose="02020603050405020304" pitchFamily="18" charset="0"/>
                <a:cs typeface="Times New Roman" panose="02020603050405020304" pitchFamily="18" charset="0"/>
              </a:rPr>
              <a:t>Explore and prototype privacy-preserving machine learning using homomorphic encryption ( simulate a small example )</a:t>
            </a:r>
          </a:p>
          <a:p>
            <a:pPr algn="just" eaLnBrk="0" fontAlgn="base" hangingPunct="0">
              <a:lnSpc>
                <a:spcPct val="100000"/>
              </a:lnSpc>
              <a:spcBef>
                <a:spcPct val="0"/>
              </a:spcBef>
              <a:spcAft>
                <a:spcPct val="0"/>
              </a:spcAf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evaluate the </a:t>
            </a:r>
            <a:r>
              <a:rPr lang="en-US" altLang="en-US" dirty="0">
                <a:latin typeface="Times New Roman" panose="02020603050405020304" pitchFamily="18" charset="0"/>
                <a:cs typeface="Times New Roman" panose="02020603050405020304" pitchFamily="18" charset="0"/>
              </a:rPr>
              <a:t>example’s </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accuracy and efficiency compared to standard ML.</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identify key trade-offs between security, speed, and performance.</a:t>
            </a:r>
          </a:p>
          <a:p>
            <a:pPr marL="0" marR="0" lvl="0" indent="0" algn="just" defTabSz="914400" rtl="0" eaLnBrk="0" fontAlgn="base" latinLnBrk="0" hangingPunct="0">
              <a:lnSpc>
                <a:spcPct val="100000"/>
              </a:lnSpc>
              <a:spcBef>
                <a:spcPct val="0"/>
              </a:spcBef>
              <a:spcAft>
                <a:spcPct val="0"/>
              </a:spcAft>
              <a:buClrTx/>
              <a:buSz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contribute insights for making privacy-preserving ML more practical.</a:t>
            </a:r>
          </a:p>
        </p:txBody>
      </p:sp>
    </p:spTree>
    <p:extLst>
      <p:ext uri="{BB962C8B-B14F-4D97-AF65-F5344CB8AC3E}">
        <p14:creationId xmlns:p14="http://schemas.microsoft.com/office/powerpoint/2010/main" val="35470978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a:xfrm>
            <a:off x="397565" y="-119269"/>
            <a:ext cx="2991678" cy="1321903"/>
          </a:xfrm>
        </p:spPr>
        <p:txBody>
          <a:bodyPr/>
          <a:lstStyle/>
          <a:p>
            <a:r>
              <a:rPr lang="en-IN"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A6188C38-4C0A-7C78-2FF6-39EB62252E81}"/>
              </a:ext>
            </a:extLst>
          </p:cNvPr>
          <p:cNvSpPr>
            <a:spLocks noGrp="1"/>
          </p:cNvSpPr>
          <p:nvPr>
            <p:ph idx="1"/>
          </p:nvPr>
        </p:nvSpPr>
        <p:spPr>
          <a:xfrm>
            <a:off x="185530" y="974034"/>
            <a:ext cx="12006470" cy="6142383"/>
          </a:xfrm>
        </p:spPr>
        <p:txBody>
          <a:bodyPr/>
          <a:lstStyle/>
          <a:p>
            <a:r>
              <a:rPr lang="en-IN" dirty="0">
                <a:hlinkClick r:id="rId2"/>
              </a:rPr>
              <a:t>https://www.geeksforgeeks.org/machine-learning/machine-learning/#:~:text=Machine%20learning%20is%20a%20branch,by%20learning%20from%20the%20data</a:t>
            </a:r>
            <a:r>
              <a:rPr lang="en-IN" dirty="0"/>
              <a:t>.</a:t>
            </a:r>
          </a:p>
          <a:p>
            <a:r>
              <a:rPr lang="en-IN" dirty="0">
                <a:hlinkClick r:id="rId3"/>
              </a:rPr>
              <a:t>https://www.ibm.com/think/topics/machine-learning</a:t>
            </a:r>
            <a:endParaRPr lang="en-IN" dirty="0"/>
          </a:p>
          <a:p>
            <a:r>
              <a:rPr lang="en-IN" dirty="0">
                <a:hlinkClick r:id="rId4"/>
              </a:rPr>
              <a:t>https://www.microsoft.com/en-us/research/wp-content/uploads/2016/04/CryptonetsTechReport.pdf</a:t>
            </a:r>
            <a:endParaRPr lang="en-IN" dirty="0"/>
          </a:p>
          <a:p>
            <a:r>
              <a:rPr lang="en-IN" dirty="0">
                <a:hlinkClick r:id="rId5"/>
              </a:rPr>
              <a:t>https://link.springer.com/chapter/10.1007/978-3-319-70694-8_15</a:t>
            </a:r>
            <a:endParaRPr lang="en-IN" dirty="0"/>
          </a:p>
          <a:p>
            <a:r>
              <a:rPr lang="en-US" dirty="0">
                <a:hlinkClick r:id="rId6"/>
              </a:rPr>
              <a:t>https://arxiv.org/abs/2403.11519</a:t>
            </a:r>
            <a:endParaRPr lang="en-US" dirty="0"/>
          </a:p>
          <a:p>
            <a:r>
              <a:rPr lang="en-US" dirty="0">
                <a:hlinkClick r:id="rId7"/>
              </a:rPr>
              <a:t>https://eprint.iacr.org/2023/1320.pdf</a:t>
            </a:r>
            <a:endParaRPr lang="en-US" dirty="0"/>
          </a:p>
          <a:p>
            <a:r>
              <a:rPr lang="en-IN" dirty="0">
                <a:hlinkClick r:id="rId8"/>
              </a:rPr>
              <a:t>https://proceedings.mlr.press/v235/kim24ab.html</a:t>
            </a:r>
            <a:endParaRPr lang="en-US" dirty="0"/>
          </a:p>
          <a:p>
            <a:endParaRPr lang="en-IN" dirty="0"/>
          </a:p>
          <a:p>
            <a:endParaRPr lang="en-IN" dirty="0"/>
          </a:p>
        </p:txBody>
      </p:sp>
    </p:spTree>
    <p:extLst>
      <p:ext uri="{BB962C8B-B14F-4D97-AF65-F5344CB8AC3E}">
        <p14:creationId xmlns:p14="http://schemas.microsoft.com/office/powerpoint/2010/main" val="27249175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199" y="2618467"/>
            <a:ext cx="7431157" cy="2510124"/>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586</TotalTime>
  <Words>1191</Words>
  <Application>Microsoft Office PowerPoint</Application>
  <PresentationFormat>Widescreen</PresentationFormat>
  <Paragraphs>97</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Privacy-preserving Machine Learning</vt:lpstr>
      <vt:lpstr>Outline</vt:lpstr>
      <vt:lpstr>Introduction</vt:lpstr>
      <vt:lpstr>Purpose</vt:lpstr>
      <vt:lpstr>Literature Review</vt:lpstr>
      <vt:lpstr>Literature Review </vt:lpstr>
      <vt:lpstr>Literature Review </vt:lpstr>
      <vt:lpstr>Literature Review </vt:lpstr>
      <vt:lpstr>Literature Review </vt:lpstr>
      <vt:lpstr>Problem Statement</vt:lpstr>
      <vt:lpstr>Proposed Solution</vt:lpstr>
      <vt:lpstr>Objectives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Machine Learning</dc:title>
  <dc:creator>Akshay Jadhav [MU - Jaipur]</dc:creator>
  <cp:lastModifiedBy>pallavi chonkar</cp:lastModifiedBy>
  <cp:revision>9</cp:revision>
  <dcterms:created xsi:type="dcterms:W3CDTF">2025-09-29T05:03:41Z</dcterms:created>
  <dcterms:modified xsi:type="dcterms:W3CDTF">2026-02-15T15:26:39Z</dcterms:modified>
</cp:coreProperties>
</file>