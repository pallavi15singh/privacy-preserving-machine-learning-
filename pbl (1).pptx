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65" r:id="rId5"/>
    <p:sldId id="259" r:id="rId6"/>
    <p:sldId id="266" r:id="rId7"/>
    <p:sldId id="267" r:id="rId8"/>
    <p:sldId id="268" r:id="rId9"/>
    <p:sldId id="269" r:id="rId10"/>
    <p:sldId id="270" r:id="rId11"/>
    <p:sldId id="271" r:id="rId12"/>
    <p:sldId id="272" r:id="rId13"/>
    <p:sldId id="273" r:id="rId14"/>
    <p:sldId id="260" r:id="rId15"/>
    <p:sldId id="261" r:id="rId16"/>
    <p:sldId id="274" r:id="rId17"/>
    <p:sldId id="277" r:id="rId18"/>
    <p:sldId id="262" r:id="rId19"/>
    <p:sldId id="263" r:id="rId20"/>
    <p:sldId id="26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C3BAE4-BDCD-41A0-9F03-51070A5B1C8C}" type="datetimeFigureOut">
              <a:rPr lang="en-IN" smtClean="0"/>
              <a:t>19-02-2026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D6E084-296B-46DF-903B-4E8546D12865}" type="slidenum">
              <a:rPr lang="en-IN" smtClean="0"/>
              <a:t>‹#›</a:t>
            </a:fld>
            <a:endParaRPr lang="en-IN"/>
          </a:p>
        </p:txBody>
      </p:sp>
    </p:spTree>
    <p:extLst>
      <p:ext uri="{BB962C8B-B14F-4D97-AF65-F5344CB8AC3E}">
        <p14:creationId xmlns:p14="http://schemas.microsoft.com/office/powerpoint/2010/main" val="2799507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D6E084-296B-46DF-903B-4E8546D12865}" type="slidenum">
              <a:rPr lang="en-IN" smtClean="0"/>
              <a:t>13</a:t>
            </a:fld>
            <a:endParaRPr lang="en-IN"/>
          </a:p>
        </p:txBody>
      </p:sp>
    </p:spTree>
    <p:extLst>
      <p:ext uri="{BB962C8B-B14F-4D97-AF65-F5344CB8AC3E}">
        <p14:creationId xmlns:p14="http://schemas.microsoft.com/office/powerpoint/2010/main" val="1882347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19-02-2026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19-02-2026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proceedings.mlr.press/v235/kim24ab.html?utm_source=chatgpt.com" TargetMode="External"/><Relationship Id="rId3" Type="http://schemas.openxmlformats.org/officeDocument/2006/relationships/hyperlink" Target="https://www.ibm.com/think/topics/machine-learning" TargetMode="External"/><Relationship Id="rId7" Type="http://schemas.openxmlformats.org/officeDocument/2006/relationships/hyperlink" Target="https://eprint.iacr.org/2023/1320.pdf" TargetMode="External"/><Relationship Id="rId2" Type="http://schemas.openxmlformats.org/officeDocument/2006/relationships/hyperlink" Target="https://www.geeksforgeeks.org/machine-learning/machine-learning/#:~:text=Machine%20learning%20is%20a%20branch,by%20learning%20from%20the%20data" TargetMode="External"/><Relationship Id="rId1" Type="http://schemas.openxmlformats.org/officeDocument/2006/relationships/slideLayout" Target="../slideLayouts/slideLayout2.xml"/><Relationship Id="rId6" Type="http://schemas.openxmlformats.org/officeDocument/2006/relationships/hyperlink" Target="https://arxiv.org/abs/2403.11519" TargetMode="External"/><Relationship Id="rId5" Type="http://schemas.openxmlformats.org/officeDocument/2006/relationships/hyperlink" Target="https://link.springer.com/chapter/10.1007/978-3-319-70694-8_15" TargetMode="External"/><Relationship Id="rId4" Type="http://schemas.openxmlformats.org/officeDocument/2006/relationships/hyperlink" Target="https://www.microsoft.com/en-us/research/wp-content/uploads/2016/04/CryptonetsTechReport.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800504"/>
            <a:ext cx="9144000" cy="1431251"/>
          </a:xfrm>
        </p:spPr>
        <p:txBody>
          <a:bodyPr>
            <a:noAutofit/>
          </a:bodyPr>
          <a:lstStyle/>
          <a:p>
            <a:r>
              <a:rPr lang="en-IN" sz="5400" dirty="0">
                <a:latin typeface="Times New Roman" panose="02020603050405020304" pitchFamily="18" charset="0"/>
                <a:cs typeface="Times New Roman" panose="02020603050405020304" pitchFamily="18" charset="0"/>
              </a:rPr>
              <a:t>Privacy-preserving Machine Learning</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6"/>
            <a:ext cx="4249963" cy="1788119"/>
          </a:xfrm>
        </p:spPr>
        <p:txBody>
          <a:bodyPr>
            <a:normAutofit/>
          </a:bodyPr>
          <a:lstStyle/>
          <a:p>
            <a:r>
              <a:rPr lang="en-IN" dirty="0"/>
              <a:t>Submitted By:</a:t>
            </a:r>
            <a:br>
              <a:rPr lang="en-IN" dirty="0"/>
            </a:br>
            <a:r>
              <a:rPr lang="en-IN" dirty="0"/>
              <a:t>Pallavi Singh Chonkar</a:t>
            </a:r>
          </a:p>
          <a:p>
            <a:r>
              <a:rPr lang="en-IN" dirty="0"/>
              <a:t>2427030259</a:t>
            </a:r>
          </a:p>
          <a:p>
            <a:r>
              <a:rPr lang="en-IN" dirty="0"/>
              <a:t>Section A</a:t>
            </a:r>
          </a:p>
          <a:p>
            <a:endParaRPr lang="en-IN" dirty="0"/>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Ms. Bali Devi</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latin typeface="Times New Roman" panose="02020603050405020304" pitchFamily="18" charset="0"/>
                <a:cs typeface="Times New Roman" panose="02020603050405020304" pitchFamily="18" charset="0"/>
              </a:rPr>
              <a:t>School of Computer Science and Engineering</a:t>
            </a:r>
          </a:p>
          <a:p>
            <a:pPr>
              <a:lnSpc>
                <a:spcPct val="150000"/>
              </a:lnSpc>
            </a:pPr>
            <a:r>
              <a:rPr lang="en-IN" sz="2800" b="1" dirty="0">
                <a:latin typeface="Times New Roman" panose="02020603050405020304" pitchFamily="18" charset="0"/>
                <a:cs typeface="Times New Roman" panose="02020603050405020304" pitchFamily="18" charset="0"/>
              </a:rPr>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Literature Review</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Proposed Solution</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79513" y="206101"/>
            <a:ext cx="3077818" cy="748058"/>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79513" y="1063486"/>
            <a:ext cx="12032974" cy="6013174"/>
          </a:xfrm>
        </p:spPr>
        <p:txBody>
          <a:bodyPr>
            <a:normAutofit/>
          </a:bodyPr>
          <a:lstStyle/>
          <a:p>
            <a:pPr marL="0" indent="0" algn="just">
              <a:buNone/>
            </a:pPr>
            <a:r>
              <a:rPr lang="en-IN" b="1" dirty="0">
                <a:latin typeface="Times New Roman" panose="02020603050405020304" pitchFamily="18" charset="0"/>
                <a:cs typeface="Times New Roman" panose="02020603050405020304" pitchFamily="18" charset="0"/>
              </a:rPr>
              <a:t>What is Machine Learning ?</a:t>
            </a:r>
          </a:p>
          <a:p>
            <a:pPr algn="just"/>
            <a:r>
              <a:rPr lang="en-IN" dirty="0">
                <a:latin typeface="Times New Roman" panose="02020603050405020304" pitchFamily="18" charset="0"/>
                <a:cs typeface="Times New Roman" panose="02020603050405020304" pitchFamily="18" charset="0"/>
              </a:rPr>
              <a:t>Machine Learning is a subfield of Artificial Intelligence, where algorithms learn pattern from data and make predictions or decisions without being explicitly programmed for every single rule.</a:t>
            </a:r>
          </a:p>
          <a:p>
            <a:pPr marL="0" indent="0" algn="just">
              <a:buNone/>
            </a:pPr>
            <a:r>
              <a:rPr lang="en-IN" b="1" dirty="0">
                <a:latin typeface="Times New Roman" panose="02020603050405020304" pitchFamily="18" charset="0"/>
                <a:cs typeface="Times New Roman" panose="02020603050405020304" pitchFamily="18" charset="0"/>
              </a:rPr>
              <a:t>How Does Machine Learning work?</a:t>
            </a:r>
          </a:p>
          <a:p>
            <a:pPr algn="just"/>
            <a:r>
              <a:rPr lang="en-IN" dirty="0">
                <a:latin typeface="Times New Roman" panose="02020603050405020304" pitchFamily="18" charset="0"/>
                <a:cs typeface="Times New Roman" panose="02020603050405020304" pitchFamily="18" charset="0"/>
              </a:rPr>
              <a:t>We gather a data set, which is split into a training set or test set so we can check how are model generalizes the new data. There are different types of models and algorithms such as linear regression, decision trees, neural networks etc.</a:t>
            </a:r>
          </a:p>
          <a:p>
            <a:pPr algn="just"/>
            <a:r>
              <a:rPr lang="en-IN" dirty="0">
                <a:latin typeface="Times New Roman" panose="02020603050405020304" pitchFamily="18" charset="0"/>
                <a:cs typeface="Times New Roman" panose="02020603050405020304" pitchFamily="18" charset="0"/>
              </a:rPr>
              <a:t>We feed the data into the model, which has internal parameters. We define a loss function and an optimizer to calculate discrepancy and adjust the parameters to reduce the discrepancy. </a:t>
            </a:r>
          </a:p>
          <a:p>
            <a:pPr algn="just"/>
            <a:r>
              <a:rPr lang="en-IN" dirty="0">
                <a:latin typeface="Times New Roman" panose="02020603050405020304" pitchFamily="18" charset="0"/>
                <a:cs typeface="Times New Roman" panose="02020603050405020304" pitchFamily="18" charset="0"/>
              </a:rPr>
              <a:t>We use test data to measure accuracy, error rate etc. Once the model works well, we can use it on new, real world data. </a:t>
            </a:r>
          </a:p>
          <a:p>
            <a:pPr marL="0" indent="0" algn="just">
              <a:buNone/>
            </a:pPr>
            <a:endParaRPr lang="en-IN" dirty="0"/>
          </a:p>
          <a:p>
            <a:pPr marL="0" indent="0" algn="just">
              <a:buNone/>
            </a:pP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6EBE4-A28D-B2FA-0E3E-1A045839C461}"/>
              </a:ext>
            </a:extLst>
          </p:cNvPr>
          <p:cNvSpPr>
            <a:spLocks noGrp="1"/>
          </p:cNvSpPr>
          <p:nvPr>
            <p:ph type="title"/>
          </p:nvPr>
        </p:nvSpPr>
        <p:spPr>
          <a:xfrm>
            <a:off x="0" y="18255"/>
            <a:ext cx="2302565" cy="1325563"/>
          </a:xfrm>
        </p:spPr>
        <p:txBody>
          <a:bodyPr/>
          <a:lstStyle/>
          <a:p>
            <a:r>
              <a:rPr lang="en-IN" dirty="0">
                <a:latin typeface="Times New Roman" panose="02020603050405020304" pitchFamily="18" charset="0"/>
                <a:cs typeface="Times New Roman" panose="02020603050405020304" pitchFamily="18" charset="0"/>
              </a:rPr>
              <a:t>Purpose</a:t>
            </a:r>
          </a:p>
        </p:txBody>
      </p:sp>
      <p:sp>
        <p:nvSpPr>
          <p:cNvPr id="3" name="Content Placeholder 2">
            <a:extLst>
              <a:ext uri="{FF2B5EF4-FFF2-40B4-BE49-F238E27FC236}">
                <a16:creationId xmlns:a16="http://schemas.microsoft.com/office/drawing/2014/main" id="{9217DB6A-CD5C-A49B-5A72-FA6C778AF4F0}"/>
              </a:ext>
            </a:extLst>
          </p:cNvPr>
          <p:cNvSpPr>
            <a:spLocks noGrp="1"/>
          </p:cNvSpPr>
          <p:nvPr>
            <p:ph idx="1"/>
          </p:nvPr>
        </p:nvSpPr>
        <p:spPr>
          <a:xfrm>
            <a:off x="89451" y="954156"/>
            <a:ext cx="11996531" cy="5675243"/>
          </a:xfrm>
        </p:spPr>
        <p:txBody>
          <a:bodyPr>
            <a:normAutofit/>
          </a:bodyPr>
          <a:lstStyle/>
          <a:p>
            <a:pPr marL="0" indent="0" algn="just">
              <a:buNone/>
            </a:pP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today’s world, machine learning is used across healthcare, finance, and personal data applications. However, training ML models requires access to raw data which often contains sensitive or confidential information. This raises serious privacy concerns due to the risk of data being exposed or leaked.</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Privacy preserving machine learning aims to solve this problem by allowing models to be trained on encrypted data so that no one, including the model trainer can see the actual data. One of the most promising methods to achieve this is Homomorphic Encryption which is a  cryptographic technique that allows mathematical operations to be performed directly on encrypted data.</a:t>
            </a:r>
          </a:p>
          <a:p>
            <a:endParaRPr lang="en-IN" dirty="0"/>
          </a:p>
        </p:txBody>
      </p:sp>
    </p:spTree>
    <p:extLst>
      <p:ext uri="{BB962C8B-B14F-4D97-AF65-F5344CB8AC3E}">
        <p14:creationId xmlns:p14="http://schemas.microsoft.com/office/powerpoint/2010/main" val="32112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0" y="-181527"/>
            <a:ext cx="10515600" cy="1325563"/>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152400" y="914400"/>
            <a:ext cx="11887200" cy="5396948"/>
          </a:xfrm>
        </p:spPr>
        <p:txBody>
          <a:bodyPr>
            <a:normAutofit/>
          </a:bodyPr>
          <a:lstStyle/>
          <a:p>
            <a:pPr marL="0" indent="0" algn="just">
              <a:buNone/>
            </a:pPr>
            <a:r>
              <a:rPr lang="en-IN" b="1" dirty="0">
                <a:latin typeface="Times New Roman" panose="02020603050405020304" pitchFamily="18" charset="0"/>
                <a:cs typeface="Times New Roman" panose="02020603050405020304" pitchFamily="18" charset="0"/>
              </a:rPr>
              <a:t>CryptoNets – Applying Neural Networks To Encrypted Data With High                                      Throughput And Accuracy </a:t>
            </a:r>
          </a:p>
          <a:p>
            <a:pPr algn="just"/>
            <a:r>
              <a:rPr lang="en-US" dirty="0">
                <a:latin typeface="Times New Roman" panose="02020603050405020304" pitchFamily="18" charset="0"/>
                <a:cs typeface="Times New Roman" panose="02020603050405020304" pitchFamily="18" charset="0"/>
              </a:rPr>
              <a:t>They aim to present a method to convert learned neural networks to CryptoNets, neural networks that can be applied to encrypted data. The encryption ensures the data remains confidential.</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CryptoNets show accuracy however they are limited to simple models.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scheme is a leveled homomorphic encryption scheme, which allows adding and multiplying encrypted messages but requires that one knows in advance the complexity of the arithmetic circuit that is to be applied.</a:t>
            </a:r>
            <a:r>
              <a:rPr lang="en-US" dirty="0"/>
              <a:t> We must decide how many multiplications or “levels” our computation will need beforehand.</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IN" dirty="0"/>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F025-E3E4-D9C1-6D94-4D1990CD8D52}"/>
              </a:ext>
            </a:extLst>
          </p:cNvPr>
          <p:cNvSpPr>
            <a:spLocks noGrp="1"/>
          </p:cNvSpPr>
          <p:nvPr>
            <p:ph type="title"/>
          </p:nvPr>
        </p:nvSpPr>
        <p:spPr>
          <a:xfrm>
            <a:off x="0" y="-201405"/>
            <a:ext cx="10515600" cy="1325563"/>
          </a:xfrm>
        </p:spPr>
        <p:txBody>
          <a:bodyPr/>
          <a:lstStyle/>
          <a:p>
            <a:r>
              <a:rPr lang="en-IN" dirty="0">
                <a:latin typeface="Times New Roman" panose="02020603050405020304" pitchFamily="18" charset="0"/>
                <a:cs typeface="Times New Roman" panose="02020603050405020304" pitchFamily="18" charset="0"/>
              </a:rPr>
              <a:t>Literature Review </a:t>
            </a:r>
          </a:p>
        </p:txBody>
      </p:sp>
      <p:sp>
        <p:nvSpPr>
          <p:cNvPr id="3" name="Content Placeholder 2">
            <a:extLst>
              <a:ext uri="{FF2B5EF4-FFF2-40B4-BE49-F238E27FC236}">
                <a16:creationId xmlns:a16="http://schemas.microsoft.com/office/drawing/2014/main" id="{141C8257-2B86-3DD7-43F6-DFD4C2DD72F8}"/>
              </a:ext>
            </a:extLst>
          </p:cNvPr>
          <p:cNvSpPr>
            <a:spLocks noGrp="1"/>
          </p:cNvSpPr>
          <p:nvPr>
            <p:ph idx="1"/>
          </p:nvPr>
        </p:nvSpPr>
        <p:spPr>
          <a:xfrm>
            <a:off x="0" y="782014"/>
            <a:ext cx="11999844" cy="5608845"/>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CKKS scheme - Homomorphic Encryption for Arithmetic of Approximate Numbers</a:t>
            </a:r>
          </a:p>
          <a:p>
            <a:pPr algn="just"/>
            <a:r>
              <a:rPr lang="en-US" dirty="0">
                <a:latin typeface="Times New Roman" panose="02020603050405020304" pitchFamily="18" charset="0"/>
                <a:cs typeface="Times New Roman" panose="02020603050405020304" pitchFamily="18" charset="0"/>
              </a:rPr>
              <a:t>Most homomorphic schemes work on exact integers. This paper aims to propose a scheme that works on encrypted values.</a:t>
            </a:r>
          </a:p>
          <a:p>
            <a:pPr algn="just"/>
            <a:r>
              <a:rPr lang="en-US" dirty="0">
                <a:latin typeface="Times New Roman" panose="02020603050405020304" pitchFamily="18" charset="0"/>
                <a:cs typeface="Times New Roman" panose="02020603050405020304" pitchFamily="18" charset="0"/>
              </a:rPr>
              <a:t>In real-world computing, especially in machine learning, we deal with real numbers (e.g. 3.14, 0.056) and approximate arithmetic.</a:t>
            </a:r>
          </a:p>
          <a:p>
            <a:pPr algn="just"/>
            <a:r>
              <a:rPr lang="en-US" dirty="0">
                <a:latin typeface="Times New Roman" panose="02020603050405020304" pitchFamily="18" charset="0"/>
                <a:cs typeface="Times New Roman" panose="02020603050405020304" pitchFamily="18" charset="0"/>
              </a:rPr>
              <a:t>Essentially a number such as 3.1415 is multiplied with a large scaling factor, such as 2^20, the resulting integer is then encrypted, instead of the real number, however on multiplying these ciphertexts, the scale grows and to rescale it, they divide the ciphertext by the scale again.</a:t>
            </a:r>
          </a:p>
          <a:p>
            <a:pPr algn="just"/>
            <a:r>
              <a:rPr lang="en-US" dirty="0">
                <a:latin typeface="Times New Roman" panose="02020603050405020304" pitchFamily="18" charset="0"/>
                <a:cs typeface="Times New Roman" panose="02020603050405020304" pitchFamily="18" charset="0"/>
              </a:rPr>
              <a:t>However this constant cycle of scaling and rescaling accumulates errors, thus compromising on precision.</a:t>
            </a:r>
          </a:p>
        </p:txBody>
      </p:sp>
    </p:spTree>
    <p:extLst>
      <p:ext uri="{BB962C8B-B14F-4D97-AF65-F5344CB8AC3E}">
        <p14:creationId xmlns:p14="http://schemas.microsoft.com/office/powerpoint/2010/main" val="367034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B83D-5A48-909F-4827-6CF5B3062B0D}"/>
              </a:ext>
            </a:extLst>
          </p:cNvPr>
          <p:cNvSpPr>
            <a:spLocks noGrp="1"/>
          </p:cNvSpPr>
          <p:nvPr>
            <p:ph type="title"/>
          </p:nvPr>
        </p:nvSpPr>
        <p:spPr>
          <a:xfrm>
            <a:off x="0" y="-191467"/>
            <a:ext cx="4618383" cy="1325563"/>
          </a:xfrm>
        </p:spPr>
        <p:txBody>
          <a:bodyPr/>
          <a:lstStyle/>
          <a:p>
            <a:r>
              <a:rPr lang="en-IN" dirty="0">
                <a:latin typeface="Times New Roman" panose="02020603050405020304" pitchFamily="18" charset="0"/>
                <a:cs typeface="Times New Roman" panose="02020603050405020304" pitchFamily="18" charset="0"/>
              </a:rPr>
              <a:t>Literature Review </a:t>
            </a:r>
            <a:endParaRPr lang="en-IN" dirty="0"/>
          </a:p>
        </p:txBody>
      </p:sp>
      <p:sp>
        <p:nvSpPr>
          <p:cNvPr id="3" name="Content Placeholder 2">
            <a:extLst>
              <a:ext uri="{FF2B5EF4-FFF2-40B4-BE49-F238E27FC236}">
                <a16:creationId xmlns:a16="http://schemas.microsoft.com/office/drawing/2014/main" id="{5C334FA4-19D6-D363-ED29-7711EC564F11}"/>
              </a:ext>
            </a:extLst>
          </p:cNvPr>
          <p:cNvSpPr>
            <a:spLocks noGrp="1"/>
          </p:cNvSpPr>
          <p:nvPr>
            <p:ph idx="1"/>
          </p:nvPr>
        </p:nvSpPr>
        <p:spPr>
          <a:xfrm>
            <a:off x="218661" y="844826"/>
            <a:ext cx="11973339" cy="5744817"/>
          </a:xfrm>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Practical Privacy-Preserving Machine Learning using Fully Homomorphic Encryption</a:t>
            </a:r>
            <a:r>
              <a:rPr lang="en-US" dirty="0">
                <a:latin typeface="Times New Roman" panose="02020603050405020304" pitchFamily="18" charset="0"/>
                <a:cs typeface="Times New Roman" panose="02020603050405020304" pitchFamily="18" charset="0"/>
              </a:rPr>
              <a:t> -Brand &amp; Pradel (2023)</a:t>
            </a:r>
          </a:p>
          <a:p>
            <a:pPr algn="just"/>
            <a:r>
              <a:rPr lang="en-US" dirty="0">
                <a:latin typeface="Times New Roman" panose="02020603050405020304" pitchFamily="18" charset="0"/>
                <a:cs typeface="Times New Roman" panose="02020603050405020304" pitchFamily="18" charset="0"/>
              </a:rPr>
              <a:t>Unlike many works that only do encrypted </a:t>
            </a:r>
            <a:r>
              <a:rPr lang="en-US" i="1" dirty="0">
                <a:latin typeface="Times New Roman" panose="02020603050405020304" pitchFamily="18" charset="0"/>
                <a:cs typeface="Times New Roman" panose="02020603050405020304" pitchFamily="18" charset="0"/>
              </a:rPr>
              <a:t>inference</a:t>
            </a:r>
            <a:r>
              <a:rPr lang="en-US" dirty="0">
                <a:latin typeface="Times New Roman" panose="02020603050405020304" pitchFamily="18" charset="0"/>
                <a:cs typeface="Times New Roman" panose="02020603050405020304" pitchFamily="18" charset="0"/>
              </a:rPr>
              <a:t>, this study shows  </a:t>
            </a:r>
            <a:r>
              <a:rPr lang="en-US" b="1" dirty="0">
                <a:latin typeface="Times New Roman" panose="02020603050405020304" pitchFamily="18" charset="0"/>
                <a:cs typeface="Times New Roman" panose="02020603050405020304" pitchFamily="18" charset="0"/>
              </a:rPr>
              <a:t>training</a:t>
            </a:r>
            <a:r>
              <a:rPr lang="en-US" dirty="0">
                <a:latin typeface="Times New Roman" panose="02020603050405020304" pitchFamily="18" charset="0"/>
                <a:cs typeface="Times New Roman" panose="02020603050405020304" pitchFamily="18" charset="0"/>
              </a:rPr>
              <a:t> a binary classifier using fully homomorphic encryption.</a:t>
            </a: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study uses FHE to train a small binary classifier. They optimized arithmetic operations and ciphertext management to reduce compute cost.</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However it only works on simple models and it's not suitable yet for large deep networks. It's scalability remains limited.</a:t>
            </a:r>
            <a:endParaRPr lang="en-IN"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53CEDB74-1CDF-E8FF-1EB2-D93BEECF4C95}"/>
              </a:ext>
            </a:extLst>
          </p:cNvPr>
          <p:cNvSpPr>
            <a:spLocks noChangeArrowheads="1"/>
          </p:cNvSpPr>
          <p:nvPr/>
        </p:nvSpPr>
        <p:spPr bwMode="auto">
          <a:xfrm>
            <a:off x="218661" y="2507903"/>
            <a:ext cx="1205971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Most HE research only supports encrypted </a:t>
            </a:r>
            <a:r>
              <a:rPr lang="en-US" altLang="en-US" sz="2800" dirty="0" err="1">
                <a:latin typeface="Times New Roman" panose="02020603050405020304" pitchFamily="18" charset="0"/>
                <a:cs typeface="Times New Roman" panose="02020603050405020304" pitchFamily="18" charset="0"/>
              </a:rPr>
              <a:t>inference.This</a:t>
            </a:r>
            <a:r>
              <a:rPr lang="en-US" altLang="en-US" sz="2800" dirty="0">
                <a:latin typeface="Times New Roman" panose="02020603050405020304" pitchFamily="18" charset="0"/>
                <a:cs typeface="Times New Roman" panose="02020603050405020304" pitchFamily="18" charset="0"/>
              </a:rPr>
              <a:t> work shows training on</a:t>
            </a:r>
          </a:p>
          <a:p>
            <a:pPr lvl="0" eaLnBrk="0" fontAlgn="base" hangingPunct="0">
              <a:spcBef>
                <a:spcPct val="0"/>
              </a:spcBef>
              <a:spcAft>
                <a:spcPct val="0"/>
              </a:spcAft>
            </a:pPr>
            <a:r>
              <a:rPr lang="en-US" altLang="en-US" sz="2800" dirty="0">
                <a:latin typeface="Times New Roman" panose="02020603050405020304" pitchFamily="18" charset="0"/>
                <a:cs typeface="Times New Roman" panose="02020603050405020304" pitchFamily="18" charset="0"/>
              </a:rPr>
              <a:t> encrypted data can be realistically fast.</a:t>
            </a:r>
          </a:p>
          <a:p>
            <a:pPr lvl="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14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2EBFE-B5D4-3F0E-C38C-A57CCB424FCB}"/>
              </a:ext>
            </a:extLst>
          </p:cNvPr>
          <p:cNvSpPr>
            <a:spLocks noGrp="1"/>
          </p:cNvSpPr>
          <p:nvPr>
            <p:ph type="title"/>
          </p:nvPr>
        </p:nvSpPr>
        <p:spPr>
          <a:xfrm>
            <a:off x="119269" y="0"/>
            <a:ext cx="4509052" cy="1095928"/>
          </a:xfrm>
        </p:spPr>
        <p:txBody>
          <a:bodyPr/>
          <a:lstStyle/>
          <a:p>
            <a:r>
              <a:rPr lang="en-IN" dirty="0">
                <a:latin typeface="Times New Roman" panose="02020603050405020304" pitchFamily="18" charset="0"/>
                <a:cs typeface="Times New Roman" panose="02020603050405020304" pitchFamily="18" charset="0"/>
              </a:rPr>
              <a:t>Literature Review </a:t>
            </a:r>
            <a:endParaRPr lang="en-IN" dirty="0"/>
          </a:p>
        </p:txBody>
      </p:sp>
      <p:sp>
        <p:nvSpPr>
          <p:cNvPr id="3" name="Content Placeholder 2">
            <a:extLst>
              <a:ext uri="{FF2B5EF4-FFF2-40B4-BE49-F238E27FC236}">
                <a16:creationId xmlns:a16="http://schemas.microsoft.com/office/drawing/2014/main" id="{841A2B45-F029-4D1F-7F20-5570C05245E3}"/>
              </a:ext>
            </a:extLst>
          </p:cNvPr>
          <p:cNvSpPr>
            <a:spLocks noGrp="1"/>
          </p:cNvSpPr>
          <p:nvPr>
            <p:ph idx="1"/>
          </p:nvPr>
        </p:nvSpPr>
        <p:spPr>
          <a:xfrm>
            <a:off x="119269" y="1142999"/>
            <a:ext cx="11956773" cy="5565913"/>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Privacy-Preserving Embedding via Look-Up Table Evaluation with Fully Homomorphic Encryption (ICML 2024)</a:t>
            </a:r>
          </a:p>
          <a:p>
            <a:pPr algn="just"/>
            <a:r>
              <a:rPr lang="en-US" dirty="0">
                <a:latin typeface="Times New Roman" panose="02020603050405020304" pitchFamily="18" charset="0"/>
                <a:cs typeface="Times New Roman" panose="02020603050405020304" pitchFamily="18" charset="0"/>
              </a:rPr>
              <a:t>The study solves the challenge of running embedding layers on encrypted data.</a:t>
            </a:r>
          </a:p>
          <a:p>
            <a:pPr algn="just"/>
            <a:r>
              <a:rPr lang="en-US" dirty="0">
                <a:latin typeface="Times New Roman" panose="02020603050405020304" pitchFamily="18" charset="0"/>
                <a:cs typeface="Times New Roman" panose="02020603050405020304" pitchFamily="18" charset="0"/>
              </a:rPr>
              <a:t>Introduces an Encrypted Indicator Function to enable efficient HE-based embedding look-ups.</a:t>
            </a:r>
          </a:p>
          <a:p>
            <a:pPr algn="just"/>
            <a:r>
              <a:rPr lang="en-US" dirty="0">
                <a:latin typeface="Times New Roman" panose="02020603050405020304" pitchFamily="18" charset="0"/>
                <a:cs typeface="Times New Roman" panose="02020603050405020304" pitchFamily="18" charset="0"/>
              </a:rPr>
              <a:t>Embeddings cannot normally be computed on encrypted inputs. However this study  unlocks privacy-preserving NLP, such as encrypted text classification or sentiment analysis.</a:t>
            </a:r>
          </a:p>
          <a:p>
            <a:pPr algn="just"/>
            <a:r>
              <a:rPr lang="en-US" dirty="0">
                <a:latin typeface="Times New Roman" panose="02020603050405020304" pitchFamily="18" charset="0"/>
                <a:cs typeface="Times New Roman" panose="02020603050405020304" pitchFamily="18" charset="0"/>
              </a:rPr>
              <a:t>However, the HE operations remain heavier than plaintext and still complex to scale to huge models.</a:t>
            </a:r>
          </a:p>
          <a:p>
            <a:pPr algn="just"/>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34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86112-8096-78EF-609E-28E7D387E0FF}"/>
              </a:ext>
            </a:extLst>
          </p:cNvPr>
          <p:cNvSpPr>
            <a:spLocks noGrp="1"/>
          </p:cNvSpPr>
          <p:nvPr>
            <p:ph type="title"/>
          </p:nvPr>
        </p:nvSpPr>
        <p:spPr>
          <a:xfrm>
            <a:off x="0" y="-221284"/>
            <a:ext cx="4359965" cy="1325563"/>
          </a:xfrm>
        </p:spPr>
        <p:txBody>
          <a:bodyPr/>
          <a:lstStyle/>
          <a:p>
            <a:r>
              <a:rPr lang="en-IN" dirty="0">
                <a:latin typeface="Times New Roman" panose="02020603050405020304" pitchFamily="18" charset="0"/>
                <a:cs typeface="Times New Roman" panose="02020603050405020304" pitchFamily="18" charset="0"/>
              </a:rPr>
              <a:t>Literature Review </a:t>
            </a:r>
            <a:endParaRPr lang="en-IN" dirty="0"/>
          </a:p>
        </p:txBody>
      </p:sp>
      <p:sp>
        <p:nvSpPr>
          <p:cNvPr id="3" name="Content Placeholder 2">
            <a:extLst>
              <a:ext uri="{FF2B5EF4-FFF2-40B4-BE49-F238E27FC236}">
                <a16:creationId xmlns:a16="http://schemas.microsoft.com/office/drawing/2014/main" id="{28FA91BA-EBD9-4685-F1B7-CCEF9783C21B}"/>
              </a:ext>
            </a:extLst>
          </p:cNvPr>
          <p:cNvSpPr>
            <a:spLocks noGrp="1"/>
          </p:cNvSpPr>
          <p:nvPr>
            <p:ph idx="1"/>
          </p:nvPr>
        </p:nvSpPr>
        <p:spPr>
          <a:xfrm>
            <a:off x="159025" y="755374"/>
            <a:ext cx="11807687" cy="5913783"/>
          </a:xfrm>
        </p:spPr>
        <p:txBody>
          <a:bodyPr/>
          <a:lstStyle/>
          <a:p>
            <a:pPr marL="0" indent="0" algn="just">
              <a:buNone/>
            </a:pPr>
            <a:r>
              <a:rPr lang="en-US" b="1" dirty="0">
                <a:latin typeface="Times New Roman" panose="02020603050405020304" pitchFamily="18" charset="0"/>
                <a:cs typeface="Times New Roman" panose="02020603050405020304" pitchFamily="18" charset="0"/>
              </a:rPr>
              <a:t>Efficient and Privacy-Preserving Federated Learning Based on Full Homomorphic Encryption (2024)</a:t>
            </a:r>
          </a:p>
          <a:p>
            <a:pPr marL="0" indent="0" algn="just">
              <a:buNone/>
            </a:pPr>
            <a:endParaRPr 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study proposes a federated learning system where all client updates are encrypted using Fully Homomorphic Encryption (FHE).</a:t>
            </a:r>
          </a:p>
          <a:p>
            <a:pPr algn="just"/>
            <a:r>
              <a:rPr lang="en-US" dirty="0">
                <a:latin typeface="Times New Roman" panose="02020603050405020304" pitchFamily="18" charset="0"/>
                <a:cs typeface="Times New Roman" panose="02020603050405020304" pitchFamily="18" charset="0"/>
              </a:rPr>
              <a:t>It allows the server to aggregate encrypted updates without ever accessing raw data.</a:t>
            </a:r>
          </a:p>
          <a:p>
            <a:pPr algn="just"/>
            <a:r>
              <a:rPr lang="en-US" dirty="0">
                <a:latin typeface="Times New Roman" panose="02020603050405020304" pitchFamily="18" charset="0"/>
                <a:cs typeface="Times New Roman" panose="02020603050405020304" pitchFamily="18" charset="0"/>
              </a:rPr>
              <a:t>Traditional FL still leaks information through gradients.</a:t>
            </a:r>
          </a:p>
          <a:p>
            <a:pPr algn="just"/>
            <a:r>
              <a:rPr lang="en-US" dirty="0">
                <a:latin typeface="Times New Roman" panose="02020603050405020304" pitchFamily="18" charset="0"/>
                <a:cs typeface="Times New Roman" panose="02020603050405020304" pitchFamily="18" charset="0"/>
              </a:rPr>
              <a:t>However, FHE ensures end-to-end data confidentiality during training.</a:t>
            </a:r>
          </a:p>
          <a:p>
            <a:pPr algn="just"/>
            <a:r>
              <a:rPr lang="en-US" dirty="0">
                <a:latin typeface="Times New Roman" panose="02020603050405020304" pitchFamily="18" charset="0"/>
                <a:cs typeface="Times New Roman" panose="02020603050405020304" pitchFamily="18" charset="0"/>
              </a:rPr>
              <a:t>The study integrates FHE into both horizontal and vertical federated learning.</a:t>
            </a:r>
          </a:p>
          <a:p>
            <a:pPr algn="just"/>
            <a:r>
              <a:rPr lang="en-US" dirty="0">
                <a:latin typeface="Times New Roman" panose="02020603050405020304" pitchFamily="18" charset="0"/>
                <a:cs typeface="Times New Roman" panose="02020603050405020304" pitchFamily="18" charset="0"/>
              </a:rPr>
              <a:t>Since FHE is still computationally expensive the  training time increases.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739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8C5A-264F-4E7B-999B-171939BAC91F}"/>
              </a:ext>
            </a:extLst>
          </p:cNvPr>
          <p:cNvSpPr>
            <a:spLocks noGrp="1"/>
          </p:cNvSpPr>
          <p:nvPr>
            <p:ph type="title"/>
          </p:nvPr>
        </p:nvSpPr>
        <p:spPr>
          <a:xfrm>
            <a:off x="169333" y="18255"/>
            <a:ext cx="10515600" cy="1325563"/>
          </a:xfrm>
        </p:spPr>
        <p:txBody>
          <a:bodyPr/>
          <a:lstStyle/>
          <a:p>
            <a:r>
              <a:rPr lang="en-IN" dirty="0">
                <a:latin typeface="Times New Roman" panose="02020603050405020304" pitchFamily="18" charset="0"/>
                <a:cs typeface="Times New Roman" panose="02020603050405020304" pitchFamily="18" charset="0"/>
              </a:rPr>
              <a:t>Literature Review </a:t>
            </a:r>
            <a:endParaRPr lang="en-IN" dirty="0"/>
          </a:p>
        </p:txBody>
      </p:sp>
      <p:sp>
        <p:nvSpPr>
          <p:cNvPr id="3" name="Content Placeholder 2">
            <a:extLst>
              <a:ext uri="{FF2B5EF4-FFF2-40B4-BE49-F238E27FC236}">
                <a16:creationId xmlns:a16="http://schemas.microsoft.com/office/drawing/2014/main" id="{86B45320-3E5C-82B4-706A-DA11D8591C26}"/>
              </a:ext>
            </a:extLst>
          </p:cNvPr>
          <p:cNvSpPr>
            <a:spLocks noGrp="1"/>
          </p:cNvSpPr>
          <p:nvPr>
            <p:ph idx="1"/>
          </p:nvPr>
        </p:nvSpPr>
        <p:spPr>
          <a:xfrm>
            <a:off x="169333" y="982133"/>
            <a:ext cx="11184467" cy="5731934"/>
          </a:xfrm>
        </p:spPr>
        <p:txBody>
          <a:bodyPr>
            <a:normAutofit/>
          </a:bodyPr>
          <a:lstStyle/>
          <a:p>
            <a:pPr marL="0" indent="0">
              <a:buNone/>
            </a:pPr>
            <a:r>
              <a:rPr lang="en-US" sz="2400" b="1" dirty="0" err="1">
                <a:latin typeface="Times New Roman" panose="02020603050405020304" pitchFamily="18" charset="0"/>
                <a:cs typeface="Times New Roman" panose="02020603050405020304" pitchFamily="18" charset="0"/>
              </a:rPr>
              <a:t>PrivSpike</a:t>
            </a:r>
            <a:r>
              <a:rPr lang="en-US" sz="2400" b="1" dirty="0">
                <a:latin typeface="Times New Roman" panose="02020603050405020304" pitchFamily="18" charset="0"/>
                <a:cs typeface="Times New Roman" panose="02020603050405020304" pitchFamily="18" charset="0"/>
              </a:rPr>
              <a:t>: Employing Homomorphic Encryption for Private Inference of Deep Spiking Neural Networks (2025)</a:t>
            </a:r>
          </a:p>
          <a:p>
            <a:pPr algn="just"/>
            <a:r>
              <a:rPr lang="en-US"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PrivSpike</a:t>
            </a:r>
            <a:r>
              <a:rPr lang="en-IN" sz="2400" dirty="0">
                <a:latin typeface="Times New Roman" panose="02020603050405020304" pitchFamily="18" charset="0"/>
                <a:cs typeface="Times New Roman" panose="02020603050405020304" pitchFamily="18" charset="0"/>
              </a:rPr>
              <a:t> introduces a privacy-preserving framework that applies homomorphic encryption (CKKS) to enable encrypted inference on Spiking Neural Networks.</a:t>
            </a:r>
          </a:p>
          <a:p>
            <a:pPr algn="just"/>
            <a:r>
              <a:rPr lang="en-US" sz="2400" dirty="0">
                <a:latin typeface="Times New Roman" panose="02020603050405020304" pitchFamily="18" charset="0"/>
                <a:cs typeface="Times New Roman" panose="02020603050405020304" pitchFamily="18" charset="0"/>
              </a:rPr>
              <a:t>The authors designed </a:t>
            </a:r>
            <a:r>
              <a:rPr lang="en-US" sz="2400" dirty="0" err="1">
                <a:latin typeface="Times New Roman" panose="02020603050405020304" pitchFamily="18" charset="0"/>
                <a:cs typeface="Times New Roman" panose="02020603050405020304" pitchFamily="18" charset="0"/>
              </a:rPr>
              <a:t>PrivSpike</a:t>
            </a:r>
            <a:r>
              <a:rPr lang="en-US" sz="2400" dirty="0">
                <a:latin typeface="Times New Roman" panose="02020603050405020304" pitchFamily="18" charset="0"/>
                <a:cs typeface="Times New Roman" panose="02020603050405020304" pitchFamily="18" charset="0"/>
              </a:rPr>
              <a:t> to work with SNNs by transforming neuron activation functions into polynomial approximations suitable for homomorphic computation.</a:t>
            </a:r>
          </a:p>
          <a:p>
            <a:pPr algn="just"/>
            <a:r>
              <a:rPr lang="en-US" sz="2400" dirty="0">
                <a:latin typeface="Times New Roman" panose="02020603050405020304" pitchFamily="18" charset="0"/>
                <a:cs typeface="Times New Roman" panose="02020603050405020304" pitchFamily="18" charset="0"/>
              </a:rPr>
              <a:t>They developed a specialized polynomial approximation algorithm for efficient SNN inference.</a:t>
            </a:r>
          </a:p>
          <a:p>
            <a:pPr algn="just"/>
            <a:r>
              <a:rPr lang="en-US" sz="2400" dirty="0">
                <a:latin typeface="Times New Roman" panose="02020603050405020304" pitchFamily="18" charset="0"/>
                <a:cs typeface="Times New Roman" panose="02020603050405020304" pitchFamily="18" charset="0"/>
              </a:rPr>
              <a:t>They developed a scheme-switching algorithm to trade off precision and computational cost.</a:t>
            </a:r>
          </a:p>
          <a:p>
            <a:pPr algn="just"/>
            <a:r>
              <a:rPr lang="en-US" sz="2400" dirty="0">
                <a:latin typeface="Times New Roman" panose="02020603050405020304" pitchFamily="18" charset="0"/>
                <a:cs typeface="Times New Roman" panose="02020603050405020304" pitchFamily="18" charset="0"/>
              </a:rPr>
              <a:t> Their methods deliver high accuracy across multiple datasets and support deep models however  the computational costs remain high especially for complex tasks.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9990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883A2-4E6C-64BA-A9F9-01D3027A3362}"/>
              </a:ext>
            </a:extLst>
          </p:cNvPr>
          <p:cNvSpPr>
            <a:spLocks noGrp="1"/>
          </p:cNvSpPr>
          <p:nvPr>
            <p:ph type="title"/>
          </p:nvPr>
        </p:nvSpPr>
        <p:spPr>
          <a:xfrm>
            <a:off x="101600" y="-262466"/>
            <a:ext cx="11116733" cy="1462088"/>
          </a:xfrm>
        </p:spPr>
        <p:txBody>
          <a:bodyPr/>
          <a:lstStyle/>
          <a:p>
            <a:r>
              <a:rPr lang="en-IN" dirty="0">
                <a:latin typeface="Times New Roman" panose="02020603050405020304" pitchFamily="18" charset="0"/>
                <a:cs typeface="Times New Roman" panose="02020603050405020304" pitchFamily="18" charset="0"/>
              </a:rPr>
              <a:t>Literature Review </a:t>
            </a:r>
            <a:endParaRPr lang="en-IN" dirty="0"/>
          </a:p>
        </p:txBody>
      </p:sp>
      <p:sp>
        <p:nvSpPr>
          <p:cNvPr id="3" name="Content Placeholder 2">
            <a:extLst>
              <a:ext uri="{FF2B5EF4-FFF2-40B4-BE49-F238E27FC236}">
                <a16:creationId xmlns:a16="http://schemas.microsoft.com/office/drawing/2014/main" id="{9620578A-445C-CFE8-7E0D-9BED730681D8}"/>
              </a:ext>
            </a:extLst>
          </p:cNvPr>
          <p:cNvSpPr>
            <a:spLocks noGrp="1"/>
          </p:cNvSpPr>
          <p:nvPr>
            <p:ph idx="1"/>
          </p:nvPr>
        </p:nvSpPr>
        <p:spPr>
          <a:xfrm>
            <a:off x="304800" y="863600"/>
            <a:ext cx="11049000" cy="5816600"/>
          </a:xfrm>
        </p:spPr>
        <p:txBody>
          <a:bodyPr>
            <a:normAutofit fontScale="92500" lnSpcReduction="20000"/>
          </a:bodyPr>
          <a:lstStyle/>
          <a:p>
            <a:pPr marL="0" indent="0" algn="just">
              <a:buNone/>
            </a:pPr>
            <a:r>
              <a:rPr lang="en-US" b="1" dirty="0">
                <a:latin typeface="Times New Roman" panose="02020603050405020304" pitchFamily="18" charset="0"/>
                <a:cs typeface="Times New Roman" panose="02020603050405020304" pitchFamily="18" charset="0"/>
              </a:rPr>
              <a:t>Design and Optimization of Cloud Native Homomorphic Encryption Workflows for Privacy-Preserving ML Inference (2025)</a:t>
            </a:r>
          </a:p>
          <a:p>
            <a:pPr algn="just"/>
            <a:r>
              <a:rPr lang="en-US" sz="3000" dirty="0">
                <a:latin typeface="Times New Roman" panose="02020603050405020304" pitchFamily="18" charset="0"/>
                <a:cs typeface="Times New Roman" panose="02020603050405020304" pitchFamily="18" charset="0"/>
              </a:rPr>
              <a:t>This paper proposes a cloud-native framework to integrate homomorphic encryption into large-scale machine learning inference pipelines deployed on cloud infrastructures.</a:t>
            </a:r>
          </a:p>
          <a:p>
            <a:pPr algn="just"/>
            <a:r>
              <a:rPr lang="en-US" sz="3000" dirty="0">
                <a:latin typeface="Times New Roman" panose="02020603050405020304" pitchFamily="18" charset="0"/>
                <a:cs typeface="Times New Roman" panose="02020603050405020304" pitchFamily="18" charset="0"/>
              </a:rPr>
              <a:t>It focuses on optimizing HE workflows so that encrypted inference can be performed at scale and  addresses  challenges such as computational overhead and orchestration complexity.</a:t>
            </a:r>
          </a:p>
          <a:p>
            <a:pPr algn="just"/>
            <a:r>
              <a:rPr lang="en-US" sz="3000" dirty="0">
                <a:latin typeface="Times New Roman" panose="02020603050405020304" pitchFamily="18" charset="0"/>
                <a:cs typeface="Times New Roman" panose="02020603050405020304" pitchFamily="18" charset="0"/>
              </a:rPr>
              <a:t>They Applying optimization strategies such as Ciphertext packing to bundle many values into one encrypted </a:t>
            </a:r>
            <a:r>
              <a:rPr lang="en-US" sz="3000" dirty="0" err="1">
                <a:latin typeface="Times New Roman" panose="02020603050405020304" pitchFamily="18" charset="0"/>
                <a:cs typeface="Times New Roman" panose="02020603050405020304" pitchFamily="18" charset="0"/>
              </a:rPr>
              <a:t>object,Polynomial</a:t>
            </a:r>
            <a:r>
              <a:rPr lang="en-US" sz="3000" dirty="0">
                <a:latin typeface="Times New Roman" panose="02020603050405020304" pitchFamily="18" charset="0"/>
                <a:cs typeface="Times New Roman" panose="02020603050405020304" pitchFamily="18" charset="0"/>
              </a:rPr>
              <a:t> modulus adjustment to balance computation and Operator fusion to reduce redundant operations during inference.</a:t>
            </a:r>
            <a:endParaRPr lang="en-US" sz="3000" dirty="0"/>
          </a:p>
          <a:p>
            <a:pPr algn="just"/>
            <a:r>
              <a:rPr lang="en-US" sz="3000" dirty="0">
                <a:latin typeface="Times New Roman" panose="02020603050405020304" pitchFamily="18" charset="0"/>
                <a:cs typeface="Times New Roman" panose="02020603050405020304" pitchFamily="18" charset="0"/>
              </a:rPr>
              <a:t>This paper  demonstrates that architectural and infrastructure level optimizations can significantly improve encrypted machine learning services however performance overhead relative to plaintext inference remains unavoidable.</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88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A959C-D637-3F69-D42A-7D8BA04EDC6D}"/>
              </a:ext>
            </a:extLst>
          </p:cNvPr>
          <p:cNvSpPr>
            <a:spLocks noGrp="1"/>
          </p:cNvSpPr>
          <p:nvPr>
            <p:ph type="title"/>
          </p:nvPr>
        </p:nvSpPr>
        <p:spPr>
          <a:xfrm>
            <a:off x="0" y="-219075"/>
            <a:ext cx="10515600" cy="1325563"/>
          </a:xfrm>
        </p:spPr>
        <p:txBody>
          <a:bodyPr/>
          <a:lstStyle/>
          <a:p>
            <a:r>
              <a:rPr lang="en-IN" dirty="0">
                <a:latin typeface="Times New Roman" panose="02020603050405020304" pitchFamily="18" charset="0"/>
                <a:cs typeface="Times New Roman" panose="02020603050405020304" pitchFamily="18" charset="0"/>
              </a:rPr>
              <a:t>Literature Review </a:t>
            </a:r>
            <a:endParaRPr lang="en-IN" dirty="0"/>
          </a:p>
        </p:txBody>
      </p:sp>
      <p:sp>
        <p:nvSpPr>
          <p:cNvPr id="3" name="Content Placeholder 2">
            <a:extLst>
              <a:ext uri="{FF2B5EF4-FFF2-40B4-BE49-F238E27FC236}">
                <a16:creationId xmlns:a16="http://schemas.microsoft.com/office/drawing/2014/main" id="{2E1EEA9A-E1A1-E31E-A58D-8327D8A71DDA}"/>
              </a:ext>
            </a:extLst>
          </p:cNvPr>
          <p:cNvSpPr>
            <a:spLocks noGrp="1"/>
          </p:cNvSpPr>
          <p:nvPr>
            <p:ph idx="1"/>
          </p:nvPr>
        </p:nvSpPr>
        <p:spPr>
          <a:xfrm>
            <a:off x="143933" y="778933"/>
            <a:ext cx="11209867" cy="5757334"/>
          </a:xfrm>
        </p:spPr>
        <p:txBody>
          <a:bodyPr>
            <a:normAutofit fontScale="92500"/>
          </a:bodyPr>
          <a:lstStyle/>
          <a:p>
            <a:pPr marL="0" indent="0" algn="just">
              <a:buNone/>
            </a:pPr>
            <a:r>
              <a:rPr lang="en-US" b="1" dirty="0">
                <a:latin typeface="Times New Roman" panose="02020603050405020304" pitchFamily="18" charset="0"/>
                <a:cs typeface="Times New Roman" panose="02020603050405020304" pitchFamily="18" charset="0"/>
              </a:rPr>
              <a:t>DCT-</a:t>
            </a:r>
            <a:r>
              <a:rPr lang="en-US" b="1" dirty="0" err="1">
                <a:latin typeface="Times New Roman" panose="02020603050405020304" pitchFamily="18" charset="0"/>
                <a:cs typeface="Times New Roman" panose="02020603050405020304" pitchFamily="18" charset="0"/>
              </a:rPr>
              <a:t>CryptoNets</a:t>
            </a:r>
            <a:r>
              <a:rPr lang="en-US" b="1" dirty="0">
                <a:latin typeface="Times New Roman" panose="02020603050405020304" pitchFamily="18" charset="0"/>
                <a:cs typeface="Times New Roman" panose="02020603050405020304" pitchFamily="18" charset="0"/>
              </a:rPr>
              <a:t>: Scaling Private Inference in the Frequency Domain (2024</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This paper proposes a framework designed to improve the efficiency of homomorphic encryption based neural network inference.</a:t>
            </a:r>
          </a:p>
          <a:p>
            <a:pPr algn="just"/>
            <a:r>
              <a:rPr lang="en-US" dirty="0">
                <a:latin typeface="Times New Roman" panose="02020603050405020304" pitchFamily="18" charset="0"/>
                <a:cs typeface="Times New Roman" panose="02020603050405020304" pitchFamily="18" charset="0"/>
              </a:rPr>
              <a:t>They perform encrypted inference in the </a:t>
            </a:r>
            <a:r>
              <a:rPr lang="en-US" b="1" dirty="0">
                <a:latin typeface="Times New Roman" panose="02020603050405020304" pitchFamily="18" charset="0"/>
                <a:cs typeface="Times New Roman" panose="02020603050405020304" pitchFamily="18" charset="0"/>
              </a:rPr>
              <a:t>frequency domain</a:t>
            </a:r>
            <a:r>
              <a:rPr lang="en-US" dirty="0">
                <a:latin typeface="Times New Roman" panose="02020603050405020304" pitchFamily="18" charset="0"/>
                <a:cs typeface="Times New Roman" panose="02020603050405020304" pitchFamily="18" charset="0"/>
              </a:rPr>
              <a:t> using the Discrete Cosine Transform (DCT)  enabling faster and more scalable privacy preserving machine learning. </a:t>
            </a:r>
          </a:p>
          <a:p>
            <a:pPr algn="just"/>
            <a:r>
              <a:rPr lang="en-US" dirty="0">
                <a:latin typeface="Times New Roman" panose="02020603050405020304" pitchFamily="18" charset="0"/>
                <a:cs typeface="Times New Roman" panose="02020603050405020304" pitchFamily="18" charset="0"/>
              </a:rPr>
              <a:t>The model processes encrypted frequency domain data instead of raw image pixels. </a:t>
            </a:r>
          </a:p>
          <a:p>
            <a:pPr algn="just"/>
            <a:r>
              <a:rPr lang="en-US" dirty="0">
                <a:latin typeface="Times New Roman" panose="02020603050405020304" pitchFamily="18" charset="0"/>
                <a:cs typeface="Times New Roman" panose="02020603050405020304" pitchFamily="18" charset="0"/>
              </a:rPr>
              <a:t>This approach reduces computational complexity because low frequency components carry most of the important information. </a:t>
            </a:r>
          </a:p>
          <a:p>
            <a:pPr algn="just"/>
            <a:r>
              <a:rPr lang="en-US" dirty="0">
                <a:latin typeface="Times New Roman" panose="02020603050405020304" pitchFamily="18" charset="0"/>
                <a:cs typeface="Times New Roman" panose="02020603050405020304" pitchFamily="18" charset="0"/>
              </a:rPr>
              <a:t>The study demonstrates that operating in the frequency domain can significantly enhance the practicality of homomorphic encryption for deep learning inference. Although encrypted inference still remains computationally intensive.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143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E9F253F-9F48-4FDF-5CA8-2D0AF5AA2DF4}"/>
              </a:ext>
            </a:extLst>
          </p:cNvPr>
          <p:cNvGraphicFramePr>
            <a:graphicFrameLocks noGrp="1"/>
          </p:cNvGraphicFramePr>
          <p:nvPr>
            <p:ph idx="1"/>
            <p:extLst>
              <p:ext uri="{D42A27DB-BD31-4B8C-83A1-F6EECF244321}">
                <p14:modId xmlns:p14="http://schemas.microsoft.com/office/powerpoint/2010/main" val="372673071"/>
              </p:ext>
            </p:extLst>
          </p:nvPr>
        </p:nvGraphicFramePr>
        <p:xfrm>
          <a:off x="143933" y="143933"/>
          <a:ext cx="11717870" cy="6997189"/>
        </p:xfrm>
        <a:graphic>
          <a:graphicData uri="http://schemas.openxmlformats.org/drawingml/2006/table">
            <a:tbl>
              <a:tblPr/>
              <a:tblGrid>
                <a:gridCol w="2343574">
                  <a:extLst>
                    <a:ext uri="{9D8B030D-6E8A-4147-A177-3AD203B41FA5}">
                      <a16:colId xmlns:a16="http://schemas.microsoft.com/office/drawing/2014/main" val="3193311418"/>
                    </a:ext>
                  </a:extLst>
                </a:gridCol>
                <a:gridCol w="2343574">
                  <a:extLst>
                    <a:ext uri="{9D8B030D-6E8A-4147-A177-3AD203B41FA5}">
                      <a16:colId xmlns:a16="http://schemas.microsoft.com/office/drawing/2014/main" val="3187101675"/>
                    </a:ext>
                  </a:extLst>
                </a:gridCol>
                <a:gridCol w="2343574">
                  <a:extLst>
                    <a:ext uri="{9D8B030D-6E8A-4147-A177-3AD203B41FA5}">
                      <a16:colId xmlns:a16="http://schemas.microsoft.com/office/drawing/2014/main" val="2778157625"/>
                    </a:ext>
                  </a:extLst>
                </a:gridCol>
                <a:gridCol w="2343574">
                  <a:extLst>
                    <a:ext uri="{9D8B030D-6E8A-4147-A177-3AD203B41FA5}">
                      <a16:colId xmlns:a16="http://schemas.microsoft.com/office/drawing/2014/main" val="3878977448"/>
                    </a:ext>
                  </a:extLst>
                </a:gridCol>
                <a:gridCol w="2343574">
                  <a:extLst>
                    <a:ext uri="{9D8B030D-6E8A-4147-A177-3AD203B41FA5}">
                      <a16:colId xmlns:a16="http://schemas.microsoft.com/office/drawing/2014/main" val="3027726652"/>
                    </a:ext>
                  </a:extLst>
                </a:gridCol>
              </a:tblGrid>
              <a:tr h="230637">
                <a:tc>
                  <a:txBody>
                    <a:bodyPr/>
                    <a:lstStyle/>
                    <a:p>
                      <a:pPr>
                        <a:buNone/>
                      </a:pPr>
                      <a:r>
                        <a:rPr lang="en-IN" sz="1400" b="1" dirty="0"/>
                        <a:t>Author &amp; Year</a:t>
                      </a:r>
                    </a:p>
                  </a:txBody>
                  <a:tcPr marL="29466" marR="29466" marT="14733" marB="14733" anchor="ctr">
                    <a:lnL>
                      <a:noFill/>
                    </a:lnL>
                    <a:lnR>
                      <a:noFill/>
                    </a:lnR>
                    <a:lnT>
                      <a:noFill/>
                    </a:lnT>
                    <a:lnB>
                      <a:noFill/>
                    </a:lnB>
                    <a:noFill/>
                  </a:tcPr>
                </a:tc>
                <a:tc>
                  <a:txBody>
                    <a:bodyPr/>
                    <a:lstStyle/>
                    <a:p>
                      <a:pPr>
                        <a:buNone/>
                      </a:pPr>
                      <a:r>
                        <a:rPr lang="en-IN" sz="1400" b="1"/>
                        <a:t>Datasets (Source &amp; Size)</a:t>
                      </a:r>
                    </a:p>
                  </a:txBody>
                  <a:tcPr marL="29466" marR="29466" marT="14733" marB="14733" anchor="ctr">
                    <a:lnL>
                      <a:noFill/>
                    </a:lnL>
                    <a:lnR>
                      <a:noFill/>
                    </a:lnR>
                    <a:lnT>
                      <a:noFill/>
                    </a:lnT>
                    <a:lnB>
                      <a:noFill/>
                    </a:lnB>
                    <a:noFill/>
                  </a:tcPr>
                </a:tc>
                <a:tc>
                  <a:txBody>
                    <a:bodyPr/>
                    <a:lstStyle/>
                    <a:p>
                      <a:pPr>
                        <a:buNone/>
                      </a:pPr>
                      <a:r>
                        <a:rPr lang="en-IN" sz="1400" b="1"/>
                        <a:t>Methodology</a:t>
                      </a:r>
                    </a:p>
                  </a:txBody>
                  <a:tcPr marL="29466" marR="29466" marT="14733" marB="14733" anchor="ctr">
                    <a:lnL>
                      <a:noFill/>
                    </a:lnL>
                    <a:lnR>
                      <a:noFill/>
                    </a:lnR>
                    <a:lnT>
                      <a:noFill/>
                    </a:lnT>
                    <a:lnB>
                      <a:noFill/>
                    </a:lnB>
                    <a:noFill/>
                  </a:tcPr>
                </a:tc>
                <a:tc>
                  <a:txBody>
                    <a:bodyPr/>
                    <a:lstStyle/>
                    <a:p>
                      <a:pPr>
                        <a:buNone/>
                      </a:pPr>
                      <a:r>
                        <a:rPr lang="en-IN" sz="1400" b="1"/>
                        <a:t>Pros</a:t>
                      </a:r>
                    </a:p>
                  </a:txBody>
                  <a:tcPr marL="29466" marR="29466" marT="14733" marB="14733" anchor="ctr">
                    <a:lnL>
                      <a:noFill/>
                    </a:lnL>
                    <a:lnR>
                      <a:noFill/>
                    </a:lnR>
                    <a:lnT>
                      <a:noFill/>
                    </a:lnT>
                    <a:lnB>
                      <a:noFill/>
                    </a:lnB>
                    <a:noFill/>
                  </a:tcPr>
                </a:tc>
                <a:tc>
                  <a:txBody>
                    <a:bodyPr/>
                    <a:lstStyle/>
                    <a:p>
                      <a:pPr>
                        <a:buNone/>
                      </a:pPr>
                      <a:r>
                        <a:rPr lang="en-IN" sz="1400" b="1" dirty="0"/>
                        <a:t>Cons / Limitations</a:t>
                      </a:r>
                    </a:p>
                  </a:txBody>
                  <a:tcPr marL="29466" marR="29466" marT="14733" marB="14733" anchor="ctr">
                    <a:lnL>
                      <a:noFill/>
                    </a:lnL>
                    <a:lnR>
                      <a:noFill/>
                    </a:lnR>
                    <a:lnT>
                      <a:noFill/>
                    </a:lnT>
                    <a:lnB>
                      <a:noFill/>
                    </a:lnB>
                    <a:noFill/>
                  </a:tcPr>
                </a:tc>
                <a:extLst>
                  <a:ext uri="{0D108BD9-81ED-4DB2-BD59-A6C34878D82A}">
                    <a16:rowId xmlns:a16="http://schemas.microsoft.com/office/drawing/2014/main" val="1914299760"/>
                  </a:ext>
                </a:extLst>
              </a:tr>
              <a:tr h="2009835">
                <a:tc>
                  <a:txBody>
                    <a:bodyPr/>
                    <a:lstStyle/>
                    <a:p>
                      <a:pPr>
                        <a:buNone/>
                      </a:pPr>
                      <a:r>
                        <a:rPr lang="en-IN" sz="1050" b="1" dirty="0" err="1"/>
                        <a:t>PrivSpike</a:t>
                      </a:r>
                      <a:r>
                        <a:rPr lang="en-IN" sz="1050" b="1" dirty="0"/>
                        <a:t> (2025)</a:t>
                      </a:r>
                      <a:endParaRPr lang="en-IN" sz="1050" dirty="0"/>
                    </a:p>
                  </a:txBody>
                  <a:tcPr marL="29466" marR="29466" marT="14733" marB="14733" anchor="ctr">
                    <a:lnL>
                      <a:noFill/>
                    </a:lnL>
                    <a:lnR>
                      <a:noFill/>
                    </a:lnR>
                    <a:lnT>
                      <a:noFill/>
                    </a:lnT>
                    <a:lnB>
                      <a:noFill/>
                    </a:lnB>
                    <a:noFill/>
                  </a:tcPr>
                </a:tc>
                <a:tc>
                  <a:txBody>
                    <a:bodyPr/>
                    <a:lstStyle/>
                    <a:p>
                      <a:pPr>
                        <a:buNone/>
                      </a:pPr>
                      <a:r>
                        <a:rPr lang="en-IN" sz="1200" dirty="0"/>
                        <a:t>MNIST (~70,000 images), CIFAR-10 (~60,000 images), Neuromorphic variants (event-based datasets)</a:t>
                      </a:r>
                    </a:p>
                  </a:txBody>
                  <a:tcPr marL="29466" marR="29466" marT="14733" marB="14733" anchor="ctr">
                    <a:lnL>
                      <a:noFill/>
                    </a:lnL>
                    <a:lnR>
                      <a:noFill/>
                    </a:lnR>
                    <a:lnT>
                      <a:noFill/>
                    </a:lnT>
                    <a:lnB>
                      <a:noFill/>
                    </a:lnB>
                    <a:noFill/>
                  </a:tcPr>
                </a:tc>
                <a:tc>
                  <a:txBody>
                    <a:bodyPr/>
                    <a:lstStyle/>
                    <a:p>
                      <a:pPr>
                        <a:buNone/>
                      </a:pPr>
                      <a:r>
                        <a:rPr lang="en-IN" sz="1200" dirty="0"/>
                        <a:t>Performs encrypted inference on Spiking Neural Networks using CKKS homomorphic encryption. Replaces neuron activation dynamics with polynomial approximations. Introduces optimized encrypted evaluation and scheme-switching for precision control.</a:t>
                      </a:r>
                    </a:p>
                  </a:txBody>
                  <a:tcPr marL="29466" marR="29466" marT="14733" marB="14733" anchor="ctr">
                    <a:lnL>
                      <a:noFill/>
                    </a:lnL>
                    <a:lnR>
                      <a:noFill/>
                    </a:lnR>
                    <a:lnT>
                      <a:noFill/>
                    </a:lnT>
                    <a:lnB>
                      <a:noFill/>
                    </a:lnB>
                    <a:noFill/>
                  </a:tcPr>
                </a:tc>
                <a:tc>
                  <a:txBody>
                    <a:bodyPr/>
                    <a:lstStyle/>
                    <a:p>
                      <a:pPr>
                        <a:buNone/>
                      </a:pPr>
                      <a:r>
                        <a:rPr lang="en-US" sz="1200"/>
                        <a:t>Supports deep neuromorphic models. High classification accuracy under encryption. Demonstrates feasibility of encrypted inference for biologically inspired networks.</a:t>
                      </a:r>
                    </a:p>
                  </a:txBody>
                  <a:tcPr marL="29466" marR="29466" marT="14733" marB="14733" anchor="ctr">
                    <a:lnL>
                      <a:noFill/>
                    </a:lnL>
                    <a:lnR>
                      <a:noFill/>
                    </a:lnR>
                    <a:lnT>
                      <a:noFill/>
                    </a:lnT>
                    <a:lnB>
                      <a:noFill/>
                    </a:lnB>
                    <a:noFill/>
                  </a:tcPr>
                </a:tc>
                <a:tc>
                  <a:txBody>
                    <a:bodyPr/>
                    <a:lstStyle/>
                    <a:p>
                      <a:pPr>
                        <a:buNone/>
                      </a:pPr>
                      <a:r>
                        <a:rPr lang="en-US" sz="1200" dirty="0"/>
                        <a:t>Very high inference time, especially for deeper models. Polynomial approximation introduces numerical error. Computational overhead remains significant.</a:t>
                      </a:r>
                    </a:p>
                  </a:txBody>
                  <a:tcPr marL="29466" marR="29466" marT="14733" marB="14733" anchor="ctr">
                    <a:lnL>
                      <a:noFill/>
                    </a:lnL>
                    <a:lnR>
                      <a:noFill/>
                    </a:lnR>
                    <a:lnT>
                      <a:noFill/>
                    </a:lnT>
                    <a:lnB>
                      <a:noFill/>
                    </a:lnB>
                    <a:noFill/>
                  </a:tcPr>
                </a:tc>
                <a:extLst>
                  <a:ext uri="{0D108BD9-81ED-4DB2-BD59-A6C34878D82A}">
                    <a16:rowId xmlns:a16="http://schemas.microsoft.com/office/drawing/2014/main" val="4204235459"/>
                  </a:ext>
                </a:extLst>
              </a:tr>
              <a:tr h="1317925">
                <a:tc>
                  <a:txBody>
                    <a:bodyPr/>
                    <a:lstStyle/>
                    <a:p>
                      <a:pPr>
                        <a:buNone/>
                      </a:pPr>
                      <a:r>
                        <a:rPr lang="en-US" sz="1050" b="1" dirty="0"/>
                        <a:t>Design &amp; Optimization of Cloud-Native HE Workflows (2025)</a:t>
                      </a:r>
                      <a:endParaRPr lang="en-US" sz="1050" dirty="0"/>
                    </a:p>
                  </a:txBody>
                  <a:tcPr marL="29466" marR="29466" marT="14733" marB="14733" anchor="ctr">
                    <a:lnL>
                      <a:noFill/>
                    </a:lnL>
                    <a:lnR>
                      <a:noFill/>
                    </a:lnR>
                    <a:lnT>
                      <a:noFill/>
                    </a:lnT>
                    <a:lnB>
                      <a:noFill/>
                    </a:lnB>
                    <a:noFill/>
                  </a:tcPr>
                </a:tc>
                <a:tc>
                  <a:txBody>
                    <a:bodyPr/>
                    <a:lstStyle/>
                    <a:p>
                      <a:pPr>
                        <a:buNone/>
                      </a:pPr>
                      <a:r>
                        <a:rPr lang="en-US" sz="1050" dirty="0"/>
                        <a:t>Experimental cloud-based evaluation datasets (ML inference workloads deployed across distributed infrastructure; size varies by deployment configuration)</a:t>
                      </a:r>
                    </a:p>
                  </a:txBody>
                  <a:tcPr marL="29466" marR="29466" marT="14733" marB="14733" anchor="ctr">
                    <a:lnL>
                      <a:noFill/>
                    </a:lnL>
                    <a:lnR>
                      <a:noFill/>
                    </a:lnR>
                    <a:lnT>
                      <a:noFill/>
                    </a:lnT>
                    <a:lnB>
                      <a:noFill/>
                    </a:lnB>
                    <a:noFill/>
                  </a:tcPr>
                </a:tc>
                <a:tc>
                  <a:txBody>
                    <a:bodyPr/>
                    <a:lstStyle/>
                    <a:p>
                      <a:pPr>
                        <a:buNone/>
                      </a:pPr>
                      <a:r>
                        <a:rPr lang="en-IN" sz="1100"/>
                        <a:t>Builds containerized homomorphic encryption pipeline deployed via Kubernetes. Uses ciphertext packing, operator fusion, and distributed orchestration to optimize encrypted inference at cloud scale.</a:t>
                      </a:r>
                    </a:p>
                  </a:txBody>
                  <a:tcPr marL="29466" marR="29466" marT="14733" marB="14733" anchor="ctr">
                    <a:lnL>
                      <a:noFill/>
                    </a:lnL>
                    <a:lnR>
                      <a:noFill/>
                    </a:lnR>
                    <a:lnT>
                      <a:noFill/>
                    </a:lnT>
                    <a:lnB>
                      <a:noFill/>
                    </a:lnB>
                    <a:noFill/>
                  </a:tcPr>
                </a:tc>
                <a:tc>
                  <a:txBody>
                    <a:bodyPr/>
                    <a:lstStyle/>
                    <a:p>
                      <a:pPr>
                        <a:buNone/>
                      </a:pPr>
                      <a:r>
                        <a:rPr lang="en-US" sz="1100"/>
                        <a:t>Improves scalability and deployment practicality. Significant speed and memory efficiency gains over traditional HE workflows. Demonstrates real-world system integration.</a:t>
                      </a:r>
                    </a:p>
                  </a:txBody>
                  <a:tcPr marL="29466" marR="29466" marT="14733" marB="14733" anchor="ctr">
                    <a:lnL>
                      <a:noFill/>
                    </a:lnL>
                    <a:lnR>
                      <a:noFill/>
                    </a:lnR>
                    <a:lnT>
                      <a:noFill/>
                    </a:lnT>
                    <a:lnB>
                      <a:noFill/>
                    </a:lnB>
                    <a:noFill/>
                  </a:tcPr>
                </a:tc>
                <a:tc>
                  <a:txBody>
                    <a:bodyPr/>
                    <a:lstStyle/>
                    <a:p>
                      <a:pPr>
                        <a:buNone/>
                      </a:pPr>
                      <a:r>
                        <a:rPr lang="en-US" sz="1100" dirty="0"/>
                        <a:t>Still slower than plaintext inference. Requires complex infrastructure setup. Focuses on system architecture rather than improving core encryption efficiency.</a:t>
                      </a:r>
                    </a:p>
                  </a:txBody>
                  <a:tcPr marL="29466" marR="29466" marT="14733" marB="14733" anchor="ctr">
                    <a:lnL>
                      <a:noFill/>
                    </a:lnL>
                    <a:lnR>
                      <a:noFill/>
                    </a:lnR>
                    <a:lnT>
                      <a:noFill/>
                    </a:lnT>
                    <a:lnB>
                      <a:noFill/>
                    </a:lnB>
                    <a:noFill/>
                  </a:tcPr>
                </a:tc>
                <a:extLst>
                  <a:ext uri="{0D108BD9-81ED-4DB2-BD59-A6C34878D82A}">
                    <a16:rowId xmlns:a16="http://schemas.microsoft.com/office/drawing/2014/main" val="2981962233"/>
                  </a:ext>
                </a:extLst>
              </a:tr>
              <a:tr h="1812145">
                <a:tc>
                  <a:txBody>
                    <a:bodyPr/>
                    <a:lstStyle/>
                    <a:p>
                      <a:pPr>
                        <a:buNone/>
                      </a:pPr>
                      <a:r>
                        <a:rPr lang="en-IN" sz="1050" b="1" dirty="0"/>
                        <a:t>DCT-</a:t>
                      </a:r>
                      <a:r>
                        <a:rPr lang="en-IN" sz="1050" b="1" dirty="0" err="1"/>
                        <a:t>CryptoNets</a:t>
                      </a:r>
                      <a:r>
                        <a:rPr lang="en-IN" sz="1050" b="1" dirty="0"/>
                        <a:t> (2024)</a:t>
                      </a:r>
                      <a:endParaRPr lang="en-IN" sz="1050" dirty="0"/>
                    </a:p>
                  </a:txBody>
                  <a:tcPr marL="29466" marR="29466" marT="14733" marB="14733" anchor="ctr">
                    <a:lnL>
                      <a:noFill/>
                    </a:lnL>
                    <a:lnR>
                      <a:noFill/>
                    </a:lnR>
                    <a:lnT>
                      <a:noFill/>
                    </a:lnT>
                    <a:lnB>
                      <a:noFill/>
                    </a:lnB>
                    <a:noFill/>
                  </a:tcPr>
                </a:tc>
                <a:tc>
                  <a:txBody>
                    <a:bodyPr/>
                    <a:lstStyle/>
                    <a:p>
                      <a:pPr>
                        <a:buNone/>
                      </a:pPr>
                      <a:r>
                        <a:rPr lang="en-IN" sz="1050" dirty="0"/>
                        <a:t>ImageNet (large scale image dataset), standard image classification benchmarks</a:t>
                      </a:r>
                    </a:p>
                  </a:txBody>
                  <a:tcPr marL="29466" marR="29466" marT="14733" marB="14733" anchor="ctr">
                    <a:lnL>
                      <a:noFill/>
                    </a:lnL>
                    <a:lnR>
                      <a:noFill/>
                    </a:lnR>
                    <a:lnT>
                      <a:noFill/>
                    </a:lnT>
                    <a:lnB>
                      <a:noFill/>
                    </a:lnB>
                    <a:noFill/>
                  </a:tcPr>
                </a:tc>
                <a:tc>
                  <a:txBody>
                    <a:bodyPr/>
                    <a:lstStyle/>
                    <a:p>
                      <a:pPr>
                        <a:buNone/>
                      </a:pPr>
                      <a:r>
                        <a:rPr lang="en-IN" sz="1100" dirty="0"/>
                        <a:t>Converts input data into frequency domain using Discrete Cosine Transform before encryption. Processes low frequency components to reduce computational load. Reduces nonlinear operations and bootstrapping requirements in encrypted neural networks.</a:t>
                      </a:r>
                    </a:p>
                  </a:txBody>
                  <a:tcPr marL="29466" marR="29466" marT="14733" marB="14733" anchor="ctr">
                    <a:lnL>
                      <a:noFill/>
                    </a:lnL>
                    <a:lnR>
                      <a:noFill/>
                    </a:lnR>
                    <a:lnT>
                      <a:noFill/>
                    </a:lnT>
                    <a:lnB>
                      <a:noFill/>
                    </a:lnB>
                    <a:noFill/>
                  </a:tcPr>
                </a:tc>
                <a:tc>
                  <a:txBody>
                    <a:bodyPr/>
                    <a:lstStyle/>
                    <a:p>
                      <a:pPr>
                        <a:buNone/>
                      </a:pPr>
                      <a:r>
                        <a:rPr lang="en-US" sz="1100"/>
                        <a:t>Major reduction in inference latency. Improved numerical stability. Enables more scalable encrypted CNN inference.</a:t>
                      </a:r>
                    </a:p>
                  </a:txBody>
                  <a:tcPr marL="29466" marR="29466" marT="14733" marB="14733" anchor="ctr">
                    <a:lnL>
                      <a:noFill/>
                    </a:lnL>
                    <a:lnR>
                      <a:noFill/>
                    </a:lnR>
                    <a:lnT>
                      <a:noFill/>
                    </a:lnT>
                    <a:lnB>
                      <a:noFill/>
                    </a:lnB>
                    <a:noFill/>
                  </a:tcPr>
                </a:tc>
                <a:tc>
                  <a:txBody>
                    <a:bodyPr/>
                    <a:lstStyle/>
                    <a:p>
                      <a:pPr>
                        <a:buNone/>
                      </a:pPr>
                      <a:r>
                        <a:rPr lang="en-US" sz="1100" dirty="0"/>
                        <a:t>Limited to image-based models. Additional preprocessing complexity. Still computationally intensive compared to plaintext methods.</a:t>
                      </a:r>
                    </a:p>
                  </a:txBody>
                  <a:tcPr marL="29466" marR="29466" marT="14733" marB="14733" anchor="ctr">
                    <a:lnL>
                      <a:noFill/>
                    </a:lnL>
                    <a:lnR>
                      <a:noFill/>
                    </a:lnR>
                    <a:lnT>
                      <a:noFill/>
                    </a:lnT>
                    <a:lnB>
                      <a:noFill/>
                    </a:lnB>
                    <a:noFill/>
                  </a:tcPr>
                </a:tc>
                <a:extLst>
                  <a:ext uri="{0D108BD9-81ED-4DB2-BD59-A6C34878D82A}">
                    <a16:rowId xmlns:a16="http://schemas.microsoft.com/office/drawing/2014/main" val="2514833811"/>
                  </a:ext>
                </a:extLst>
              </a:tr>
              <a:tr h="1614458">
                <a:tc>
                  <a:txBody>
                    <a:bodyPr/>
                    <a:lstStyle/>
                    <a:p>
                      <a:pPr>
                        <a:buNone/>
                      </a:pPr>
                      <a:r>
                        <a:rPr lang="en-IN" sz="1050" b="1" dirty="0"/>
                        <a:t>HE-LRM (2025)</a:t>
                      </a:r>
                      <a:endParaRPr lang="en-IN" sz="1050" dirty="0"/>
                    </a:p>
                  </a:txBody>
                  <a:tcPr marL="29466" marR="29466" marT="14733" marB="14733" anchor="ctr">
                    <a:lnL>
                      <a:noFill/>
                    </a:lnL>
                    <a:lnR>
                      <a:noFill/>
                    </a:lnR>
                    <a:lnT>
                      <a:noFill/>
                    </a:lnT>
                    <a:lnB>
                      <a:noFill/>
                    </a:lnB>
                    <a:noFill/>
                  </a:tcPr>
                </a:tc>
                <a:tc>
                  <a:txBody>
                    <a:bodyPr/>
                    <a:lstStyle/>
                    <a:p>
                      <a:pPr>
                        <a:buNone/>
                      </a:pPr>
                      <a:r>
                        <a:rPr lang="en-US" sz="1050" dirty="0"/>
                        <a:t>UCI health dataset (moderate tabular size), Criteo click-through rate dataset (~45 million samples)</a:t>
                      </a:r>
                    </a:p>
                  </a:txBody>
                  <a:tcPr marL="29466" marR="29466" marT="14733" marB="14733" anchor="ctr">
                    <a:lnL>
                      <a:noFill/>
                    </a:lnL>
                    <a:lnR>
                      <a:noFill/>
                    </a:lnR>
                    <a:lnT>
                      <a:noFill/>
                    </a:lnT>
                    <a:lnB>
                      <a:noFill/>
                    </a:lnB>
                    <a:noFill/>
                  </a:tcPr>
                </a:tc>
                <a:tc>
                  <a:txBody>
                    <a:bodyPr/>
                    <a:lstStyle/>
                    <a:p>
                      <a:pPr>
                        <a:buNone/>
                      </a:pPr>
                      <a:r>
                        <a:rPr lang="en-IN" sz="1100" dirty="0"/>
                        <a:t>Implements encrypted inference for deep learning recommendation models using CKKS. Introduces embedding compression and multi-embedding packing. Integrates into Orion FHE framework.</a:t>
                      </a:r>
                    </a:p>
                  </a:txBody>
                  <a:tcPr marL="29466" marR="29466" marT="14733" marB="14733" anchor="ctr">
                    <a:lnL>
                      <a:noFill/>
                    </a:lnL>
                    <a:lnR>
                      <a:noFill/>
                    </a:lnR>
                    <a:lnT>
                      <a:noFill/>
                    </a:lnT>
                    <a:lnB>
                      <a:noFill/>
                    </a:lnB>
                    <a:noFill/>
                  </a:tcPr>
                </a:tc>
                <a:tc>
                  <a:txBody>
                    <a:bodyPr/>
                    <a:lstStyle/>
                    <a:p>
                      <a:pPr>
                        <a:buNone/>
                      </a:pPr>
                      <a:r>
                        <a:rPr lang="en-US" sz="1100"/>
                        <a:t>Handles large sparse feature spaces. Significant speed improvements from embedding compression. Supports real-world recommendation tasks.</a:t>
                      </a:r>
                    </a:p>
                  </a:txBody>
                  <a:tcPr marL="29466" marR="29466" marT="14733" marB="14733" anchor="ctr">
                    <a:lnL>
                      <a:noFill/>
                    </a:lnL>
                    <a:lnR>
                      <a:noFill/>
                    </a:lnR>
                    <a:lnT>
                      <a:noFill/>
                    </a:lnT>
                    <a:lnB>
                      <a:noFill/>
                    </a:lnB>
                    <a:noFill/>
                  </a:tcPr>
                </a:tc>
                <a:tc>
                  <a:txBody>
                    <a:bodyPr/>
                    <a:lstStyle/>
                    <a:p>
                      <a:pPr>
                        <a:buNone/>
                      </a:pPr>
                      <a:r>
                        <a:rPr lang="en-US" sz="1100" dirty="0"/>
                        <a:t>High latency for large datasets. Embedding operations still expensive. Requires specialized optimization and potential hardware acceleration.</a:t>
                      </a:r>
                    </a:p>
                  </a:txBody>
                  <a:tcPr marL="29466" marR="29466" marT="14733" marB="14733" anchor="ctr">
                    <a:lnL>
                      <a:noFill/>
                    </a:lnL>
                    <a:lnR>
                      <a:noFill/>
                    </a:lnR>
                    <a:lnT>
                      <a:noFill/>
                    </a:lnT>
                    <a:lnB>
                      <a:noFill/>
                    </a:lnB>
                    <a:noFill/>
                  </a:tcPr>
                </a:tc>
                <a:extLst>
                  <a:ext uri="{0D108BD9-81ED-4DB2-BD59-A6C34878D82A}">
                    <a16:rowId xmlns:a16="http://schemas.microsoft.com/office/drawing/2014/main" val="2114222814"/>
                  </a:ext>
                </a:extLst>
              </a:tr>
            </a:tbl>
          </a:graphicData>
        </a:graphic>
      </p:graphicFrame>
    </p:spTree>
    <p:extLst>
      <p:ext uri="{BB962C8B-B14F-4D97-AF65-F5344CB8AC3E}">
        <p14:creationId xmlns:p14="http://schemas.microsoft.com/office/powerpoint/2010/main" val="2530387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0" y="-69574"/>
            <a:ext cx="10515600" cy="1004888"/>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79514" y="1222513"/>
            <a:ext cx="11618842" cy="5406887"/>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Traditional machine learning models require access to unencrypted data, which creates privacy risks for sensitive information.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Existing encryption-based approaches are promising but often slow and computationally expensive, making them difficult to use in real world scenarios.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Therefore, there is a need to study how to train ML models on encrypted data efficiently, while maintaining model accuracy and privacy.</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From the above studies we can see the approaches despite being advanced are approximate (not exact), error accumulates as heavier computation is involved. The schemes are slow and heavy</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707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281608" y="292099"/>
            <a:ext cx="10515600" cy="777875"/>
          </a:xfrm>
        </p:spPr>
        <p:txBody>
          <a:bodyPr/>
          <a:lstStyle/>
          <a:p>
            <a:r>
              <a:rPr lang="en-IN"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a:xfrm>
            <a:off x="281608" y="1182757"/>
            <a:ext cx="11072192" cy="4994206"/>
          </a:xfrm>
        </p:spPr>
        <p:txBody>
          <a:bodyPr/>
          <a:lstStyle/>
          <a:p>
            <a:pPr algn="just"/>
            <a:r>
              <a:rPr lang="en-IN" dirty="0">
                <a:latin typeface="Times New Roman" panose="02020603050405020304" pitchFamily="18" charset="0"/>
                <a:cs typeface="Times New Roman" panose="02020603050405020304" pitchFamily="18" charset="0"/>
              </a:rPr>
              <a:t>When we encrypt data, we cant do computations on it, however </a:t>
            </a:r>
            <a:r>
              <a:rPr lang="en-US" dirty="0">
                <a:latin typeface="Times New Roman" panose="02020603050405020304" pitchFamily="18" charset="0"/>
                <a:cs typeface="Times New Roman" panose="02020603050405020304" pitchFamily="18" charset="0"/>
              </a:rPr>
              <a:t>with homomorphic encryption , we can perform additions and multiplications on encrypted values and when we decrypt the result, it matches with what we would’ve gotten if we did the same math on the raw unencrypted data.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proposed solution is to develop a prototype that demonstrates training of a simple ML model for e.g. small neural network on encrypted data using Homomorphic Encryption techniques.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772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41E20-7E18-41BB-7009-B057C755FC17}"/>
              </a:ext>
            </a:extLst>
          </p:cNvPr>
          <p:cNvSpPr>
            <a:spLocks noGrp="1"/>
          </p:cNvSpPr>
          <p:nvPr>
            <p:ph type="title"/>
          </p:nvPr>
        </p:nvSpPr>
        <p:spPr>
          <a:xfrm>
            <a:off x="110066" y="94193"/>
            <a:ext cx="3149600" cy="718608"/>
          </a:xfrm>
        </p:spPr>
        <p:txBody>
          <a:bodyPr>
            <a:normAutofit fontScale="90000"/>
          </a:bodyPr>
          <a:lstStyle/>
          <a:p>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E753AC-A66C-EF9D-8721-C8A10DABCCB8}"/>
              </a:ext>
            </a:extLst>
          </p:cNvPr>
          <p:cNvSpPr>
            <a:spLocks noGrp="1"/>
          </p:cNvSpPr>
          <p:nvPr>
            <p:ph idx="1"/>
          </p:nvPr>
        </p:nvSpPr>
        <p:spPr>
          <a:xfrm>
            <a:off x="169333" y="719667"/>
            <a:ext cx="11709400" cy="5943600"/>
          </a:xfrm>
        </p:spPr>
        <p:txBody>
          <a:bodyPr>
            <a:normAutofit/>
          </a:bodyPr>
          <a:lstStyle/>
          <a:p>
            <a:pPr algn="just"/>
            <a:r>
              <a:rPr lang="en-US" b="1" dirty="0">
                <a:latin typeface="Times New Roman" panose="02020603050405020304" pitchFamily="18" charset="0"/>
                <a:cs typeface="Times New Roman" panose="02020603050405020304" pitchFamily="18" charset="0"/>
              </a:rPr>
              <a:t>Data Source Selection</a:t>
            </a:r>
          </a:p>
          <a:p>
            <a:pPr algn="just"/>
            <a:r>
              <a:rPr lang="en-US" sz="2400" dirty="0">
                <a:latin typeface="Times New Roman" panose="02020603050405020304" pitchFamily="18" charset="0"/>
                <a:cs typeface="Times New Roman" panose="02020603050405020304" pitchFamily="18" charset="0"/>
              </a:rPr>
              <a:t>The dataset will be obtained from Kaggle, a public repository of structured and labeled datasets used in machine learning research. Following are the reasons:-</a:t>
            </a:r>
          </a:p>
          <a:p>
            <a:pPr algn="just"/>
            <a:r>
              <a:rPr lang="en-US" sz="2400" dirty="0">
                <a:latin typeface="Times New Roman" panose="02020603050405020304" pitchFamily="18" charset="0"/>
                <a:cs typeface="Times New Roman" panose="02020603050405020304" pitchFamily="18" charset="0"/>
              </a:rPr>
              <a:t>Publicly accessible </a:t>
            </a:r>
          </a:p>
          <a:p>
            <a:pPr algn="just"/>
            <a:r>
              <a:rPr lang="en-US" sz="2400" dirty="0">
                <a:latin typeface="Times New Roman" panose="02020603050405020304" pitchFamily="18" charset="0"/>
                <a:cs typeface="Times New Roman" panose="02020603050405020304" pitchFamily="18" charset="0"/>
              </a:rPr>
              <a:t>Clean documentation and metadata</a:t>
            </a:r>
          </a:p>
          <a:p>
            <a:pPr algn="just"/>
            <a:r>
              <a:rPr lang="en-US" sz="2400" dirty="0">
                <a:latin typeface="Times New Roman" panose="02020603050405020304" pitchFamily="18" charset="0"/>
                <a:cs typeface="Times New Roman" panose="02020603050405020304" pitchFamily="18" charset="0"/>
              </a:rPr>
              <a:t>Standardized formats (CSV, tabular numeric data)</a:t>
            </a:r>
          </a:p>
          <a:p>
            <a:pPr algn="just"/>
            <a:r>
              <a:rPr lang="en-US" sz="2400" dirty="0">
                <a:latin typeface="Times New Roman" panose="02020603050405020304" pitchFamily="18" charset="0"/>
                <a:cs typeface="Times New Roman" panose="02020603050405020304" pitchFamily="18" charset="0"/>
              </a:rPr>
              <a:t>Commonly used in academic ML experiments</a:t>
            </a:r>
          </a:p>
          <a:p>
            <a:pPr algn="just"/>
            <a:r>
              <a:rPr lang="en-US" sz="2400" dirty="0">
                <a:latin typeface="Times New Roman" panose="02020603050405020304" pitchFamily="18" charset="0"/>
                <a:cs typeface="Times New Roman" panose="02020603050405020304" pitchFamily="18" charset="0"/>
              </a:rPr>
              <a:t>Contains datasets of manageable size suitable for homomorphic encryption experiments</a:t>
            </a:r>
          </a:p>
          <a:p>
            <a:pPr algn="just"/>
            <a:r>
              <a:rPr lang="en-US" sz="2400" dirty="0">
                <a:latin typeface="Times New Roman" panose="02020603050405020304" pitchFamily="18" charset="0"/>
                <a:cs typeface="Times New Roman" panose="02020603050405020304" pitchFamily="18" charset="0"/>
              </a:rPr>
              <a:t>Homomorphic encryption is computationally expensive, so using extremely large datasets is impractical for experimental evaluation. Therefore, a moderate-size dataset will be selected.</a:t>
            </a:r>
          </a:p>
          <a:p>
            <a:endParaRPr lang="en-IN" dirty="0"/>
          </a:p>
        </p:txBody>
      </p:sp>
    </p:spTree>
    <p:extLst>
      <p:ext uri="{BB962C8B-B14F-4D97-AF65-F5344CB8AC3E}">
        <p14:creationId xmlns:p14="http://schemas.microsoft.com/office/powerpoint/2010/main" val="3706902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EF37A-D4A7-0BD7-57CF-8164831B248D}"/>
              </a:ext>
            </a:extLst>
          </p:cNvPr>
          <p:cNvSpPr>
            <a:spLocks noGrp="1"/>
          </p:cNvSpPr>
          <p:nvPr>
            <p:ph type="title"/>
          </p:nvPr>
        </p:nvSpPr>
        <p:spPr>
          <a:xfrm>
            <a:off x="118533" y="174095"/>
            <a:ext cx="3412067" cy="506942"/>
          </a:xfrm>
        </p:spPr>
        <p:txBody>
          <a:bodyPr>
            <a:normAutofit fontScale="90000"/>
          </a:bodyPr>
          <a:lstStyle/>
          <a:p>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8C2A95-39C7-DD4E-87E4-1F999A9F7784}"/>
              </a:ext>
            </a:extLst>
          </p:cNvPr>
          <p:cNvSpPr>
            <a:spLocks noGrp="1"/>
          </p:cNvSpPr>
          <p:nvPr>
            <p:ph idx="1"/>
          </p:nvPr>
        </p:nvSpPr>
        <p:spPr>
          <a:xfrm>
            <a:off x="228600" y="762000"/>
            <a:ext cx="11785600" cy="5921905"/>
          </a:xfrm>
        </p:spPr>
        <p:txBody>
          <a:bodyPr>
            <a:normAutofit/>
          </a:bodyPr>
          <a:lstStyle/>
          <a:p>
            <a:r>
              <a:rPr lang="en-US" sz="2400" b="1" dirty="0">
                <a:latin typeface="Times New Roman" panose="02020603050405020304" pitchFamily="18" charset="0"/>
                <a:cs typeface="Times New Roman" panose="02020603050405020304" pitchFamily="18" charset="0"/>
              </a:rPr>
              <a:t>Type of Data To Be Used :-</a:t>
            </a:r>
          </a:p>
          <a:p>
            <a:r>
              <a:rPr lang="en-US" sz="2400" dirty="0">
                <a:latin typeface="Times New Roman" panose="02020603050405020304" pitchFamily="18" charset="0"/>
                <a:cs typeface="Times New Roman" panose="02020603050405020304" pitchFamily="18" charset="0"/>
              </a:rPr>
              <a:t>The project will use numeric tabular data.</a:t>
            </a:r>
          </a:p>
          <a:p>
            <a:r>
              <a:rPr lang="en-US" sz="2400" b="1" dirty="0">
                <a:latin typeface="Times New Roman" panose="02020603050405020304" pitchFamily="18" charset="0"/>
                <a:cs typeface="Times New Roman" panose="02020603050405020304" pitchFamily="18" charset="0"/>
              </a:rPr>
              <a:t>Dataset Size and Structure:-</a:t>
            </a:r>
          </a:p>
          <a:p>
            <a:pPr marL="0" indent="0">
              <a:buNone/>
            </a:pPr>
            <a:r>
              <a:rPr lang="en-US" sz="2400" b="1" dirty="0">
                <a:latin typeface="Times New Roman" panose="02020603050405020304" pitchFamily="18" charset="0"/>
                <a:cs typeface="Times New Roman" panose="02020603050405020304" pitchFamily="18" charset="0"/>
              </a:rPr>
              <a:t>Sample size</a:t>
            </a:r>
            <a:r>
              <a:rPr lang="en-US" sz="2400" dirty="0">
                <a:latin typeface="Times New Roman" panose="02020603050405020304" pitchFamily="18" charset="0"/>
                <a:cs typeface="Times New Roman" panose="02020603050405020304" pitchFamily="18" charset="0"/>
              </a:rPr>
              <a:t> &lt;10,000 records</a:t>
            </a:r>
          </a:p>
          <a:p>
            <a:r>
              <a:rPr lang="en-US" sz="2400" b="1" dirty="0">
                <a:latin typeface="Times New Roman" panose="02020603050405020304" pitchFamily="18" charset="0"/>
                <a:cs typeface="Times New Roman" panose="02020603050405020304" pitchFamily="18" charset="0"/>
              </a:rPr>
              <a:t>Data Preprocessing:-</a:t>
            </a:r>
          </a:p>
          <a:p>
            <a:pPr marL="0" indent="0">
              <a:buNone/>
            </a:pPr>
            <a:r>
              <a:rPr lang="en-US" sz="2400" dirty="0">
                <a:latin typeface="Times New Roman" panose="02020603050405020304" pitchFamily="18" charset="0"/>
                <a:cs typeface="Times New Roman" panose="02020603050405020304" pitchFamily="18" charset="0"/>
              </a:rPr>
              <a:t>Before training or encryption, the dataset will be preprocessed to ensure compatibility with both machine learning and homomorphic encryption.</a:t>
            </a:r>
          </a:p>
          <a:p>
            <a:pPr marL="0" indent="0">
              <a:buNone/>
            </a:pPr>
            <a:r>
              <a:rPr lang="en-US" sz="2400" b="1" dirty="0">
                <a:latin typeface="Times New Roman" panose="02020603050405020304" pitchFamily="18" charset="0"/>
                <a:cs typeface="Times New Roman" panose="02020603050405020304" pitchFamily="18" charset="0"/>
              </a:rPr>
              <a:t>Libraries required for data pre processing and encryption:-</a:t>
            </a:r>
          </a:p>
          <a:p>
            <a:r>
              <a:rPr lang="en-US" sz="2400" dirty="0">
                <a:latin typeface="Times New Roman" panose="02020603050405020304" pitchFamily="18" charset="0"/>
                <a:cs typeface="Times New Roman" panose="02020603050405020304" pitchFamily="18" charset="0"/>
              </a:rPr>
              <a:t>NumPy (python) (for mathematical operations) , pandas (to load data sets, handle missing values), Scikit learn( for splitting data sets, normalization, also has built in data sets. </a:t>
            </a:r>
            <a:r>
              <a:rPr lang="en-US" sz="2400" dirty="0" err="1">
                <a:latin typeface="Times New Roman" panose="02020603050405020304" pitchFamily="18" charset="0"/>
                <a:cs typeface="Times New Roman" panose="02020603050405020304" pitchFamily="18" charset="0"/>
              </a:rPr>
              <a:t>Pyfhel</a:t>
            </a:r>
            <a:r>
              <a:rPr lang="en-US" sz="2400" dirty="0">
                <a:latin typeface="Times New Roman" panose="02020603050405020304" pitchFamily="18" charset="0"/>
                <a:cs typeface="Times New Roman" panose="02020603050405020304" pitchFamily="18" charset="0"/>
              </a:rPr>
              <a:t> or </a:t>
            </a:r>
            <a:r>
              <a:rPr lang="en-US" sz="2400" dirty="0" err="1">
                <a:latin typeface="Times New Roman" panose="02020603050405020304" pitchFamily="18" charset="0"/>
                <a:cs typeface="Times New Roman" panose="02020603050405020304" pitchFamily="18" charset="0"/>
              </a:rPr>
              <a:t>tenSeal</a:t>
            </a:r>
            <a:r>
              <a:rPr lang="en-US" sz="2400" dirty="0">
                <a:latin typeface="Times New Roman" panose="02020603050405020304" pitchFamily="18" charset="0"/>
                <a:cs typeface="Times New Roman" panose="02020603050405020304" pitchFamily="18" charset="0"/>
              </a:rPr>
              <a:t> for HE.</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(after pre processing data the aim is to train ML models, HE set up, Encrypted inference </a:t>
            </a:r>
            <a:r>
              <a:rPr lang="en-US" sz="2400" b="1" dirty="0" err="1">
                <a:latin typeface="Times New Roman" panose="02020603050405020304" pitchFamily="18" charset="0"/>
                <a:cs typeface="Times New Roman" panose="02020603050405020304" pitchFamily="18" charset="0"/>
              </a:rPr>
              <a:t>i.e</a:t>
            </a:r>
            <a:r>
              <a:rPr lang="en-US" sz="2400" b="1" dirty="0">
                <a:latin typeface="Times New Roman" panose="02020603050405020304" pitchFamily="18" charset="0"/>
                <a:cs typeface="Times New Roman" panose="02020603050405020304" pitchFamily="18" charset="0"/>
              </a:rPr>
              <a:t> testing data </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016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a:xfrm>
            <a:off x="122583" y="103325"/>
            <a:ext cx="2729948" cy="1325563"/>
          </a:xfrm>
        </p:spPr>
        <p:txBody>
          <a:bodyPr/>
          <a:lstStyle/>
          <a:p>
            <a:r>
              <a:rPr lang="en-IN"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1F4EAC39-94D5-1322-A745-BEADC902F8DE}"/>
              </a:ext>
            </a:extLst>
          </p:cNvPr>
          <p:cNvSpPr>
            <a:spLocks noGrp="1" noChangeArrowheads="1"/>
          </p:cNvSpPr>
          <p:nvPr>
            <p:ph idx="1"/>
          </p:nvPr>
        </p:nvSpPr>
        <p:spPr bwMode="auto">
          <a:xfrm>
            <a:off x="122583" y="1329070"/>
            <a:ext cx="1168510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and understand the principles of Homomorphic Encryption and its use in ML.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dirty="0">
                <a:latin typeface="Times New Roman" panose="02020603050405020304" pitchFamily="18" charset="0"/>
                <a:cs typeface="Times New Roman" panose="02020603050405020304" pitchFamily="18" charset="0"/>
              </a:rPr>
              <a:t>Explore and prototype privacy-preserving machine learning using homomorphic encryption ( simulate a small example )</a:t>
            </a:r>
          </a:p>
          <a:p>
            <a:pPr algn="just"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the </a:t>
            </a:r>
            <a:r>
              <a:rPr lang="en-US" altLang="en-US" dirty="0">
                <a:latin typeface="Times New Roman" panose="02020603050405020304" pitchFamily="18" charset="0"/>
                <a:cs typeface="Times New Roman" panose="02020603050405020304" pitchFamily="18" charset="0"/>
              </a:rPr>
              <a:t>example’s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and efficiency compared to standard ML.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key trade-offs between security, speed, and performance.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contribute insights for making privacy-preserving ML more practical.</a:t>
            </a:r>
          </a:p>
        </p:txBody>
      </p:sp>
    </p:spTree>
    <p:extLst>
      <p:ext uri="{BB962C8B-B14F-4D97-AF65-F5344CB8AC3E}">
        <p14:creationId xmlns:p14="http://schemas.microsoft.com/office/powerpoint/2010/main" val="3547097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a:xfrm>
            <a:off x="397565" y="-119269"/>
            <a:ext cx="2991678" cy="1321903"/>
          </a:xfrm>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a:xfrm>
            <a:off x="185530" y="974034"/>
            <a:ext cx="12006470" cy="6142383"/>
          </a:xfrm>
        </p:spPr>
        <p:txBody>
          <a:bodyPr/>
          <a:lstStyle/>
          <a:p>
            <a:r>
              <a:rPr lang="en-IN" dirty="0">
                <a:hlinkClick r:id="rId2"/>
              </a:rPr>
              <a:t>https://www.geeksforgeeks.org/machine-learning/machine-learning/#:~:text=Machine%20learning%20is%20a%20branch,by%20learning%20from%20the%20data</a:t>
            </a:r>
            <a:r>
              <a:rPr lang="en-IN" dirty="0"/>
              <a:t>.</a:t>
            </a:r>
          </a:p>
          <a:p>
            <a:r>
              <a:rPr lang="en-IN" dirty="0">
                <a:hlinkClick r:id="rId3"/>
              </a:rPr>
              <a:t>https://www.ibm.com/think/topics/machine-learning</a:t>
            </a:r>
            <a:endParaRPr lang="en-IN" dirty="0"/>
          </a:p>
          <a:p>
            <a:r>
              <a:rPr lang="en-IN" dirty="0">
                <a:hlinkClick r:id="rId4"/>
              </a:rPr>
              <a:t>https://www.microsoft.com/en-us/research/wp-content/uploads/2016/04/CryptonetsTechReport.pdf</a:t>
            </a:r>
            <a:endParaRPr lang="en-IN" dirty="0"/>
          </a:p>
          <a:p>
            <a:r>
              <a:rPr lang="en-IN" dirty="0">
                <a:hlinkClick r:id="rId5"/>
              </a:rPr>
              <a:t>https://link.springer.com/chapter/10.1007/978-3-319-70694-8_15</a:t>
            </a:r>
            <a:endParaRPr lang="en-IN" dirty="0"/>
          </a:p>
          <a:p>
            <a:r>
              <a:rPr lang="en-US" dirty="0">
                <a:hlinkClick r:id="rId6"/>
              </a:rPr>
              <a:t>https://arxiv.org/abs/2403.11519</a:t>
            </a:r>
            <a:endParaRPr lang="en-US" dirty="0"/>
          </a:p>
          <a:p>
            <a:r>
              <a:rPr lang="en-US" dirty="0">
                <a:hlinkClick r:id="rId7"/>
              </a:rPr>
              <a:t>https://eprint.iacr.org/2023/1320.pdf</a:t>
            </a:r>
            <a:endParaRPr lang="en-US" dirty="0"/>
          </a:p>
          <a:p>
            <a:r>
              <a:rPr lang="en-IN" dirty="0">
                <a:hlinkClick r:id="rId8"/>
              </a:rPr>
              <a:t>https://proceedings.mlr.press/v235/kim24ab.html</a:t>
            </a:r>
            <a:endParaRPr lang="en-US" dirty="0"/>
          </a:p>
          <a:p>
            <a:endParaRPr lang="en-IN" dirty="0"/>
          </a:p>
          <a:p>
            <a:endParaRPr lang="en-IN" dirty="0"/>
          </a:p>
        </p:txBody>
      </p:sp>
    </p:spTree>
    <p:extLst>
      <p:ext uri="{BB962C8B-B14F-4D97-AF65-F5344CB8AC3E}">
        <p14:creationId xmlns:p14="http://schemas.microsoft.com/office/powerpoint/2010/main" val="2724917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199" y="2618467"/>
            <a:ext cx="7431157" cy="2510124"/>
          </a:xfrm>
        </p:spPr>
        <p:txBody>
          <a:bodyPr/>
          <a:lstStyle/>
          <a:p>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718</TotalTime>
  <Words>2130</Words>
  <Application>Microsoft Office PowerPoint</Application>
  <PresentationFormat>Widescreen</PresentationFormat>
  <Paragraphs>162</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Times New Roman</vt:lpstr>
      <vt:lpstr>Wingdings</vt:lpstr>
      <vt:lpstr>Office Theme</vt:lpstr>
      <vt:lpstr>Privacy-preserving Machine Learning</vt:lpstr>
      <vt:lpstr>Outline</vt:lpstr>
      <vt:lpstr>Introduction</vt:lpstr>
      <vt:lpstr>Purpose</vt:lpstr>
      <vt:lpstr>Literature Review</vt:lpstr>
      <vt:lpstr>Literature Review </vt:lpstr>
      <vt:lpstr>Literature Review </vt:lpstr>
      <vt:lpstr>Literature Review </vt:lpstr>
      <vt:lpstr>Literature Review </vt:lpstr>
      <vt:lpstr>Literature Review </vt:lpstr>
      <vt:lpstr>Literature Review </vt:lpstr>
      <vt:lpstr>Literature Review </vt:lpstr>
      <vt:lpstr>PowerPoint Presentation</vt:lpstr>
      <vt:lpstr>Problem Statement</vt:lpstr>
      <vt:lpstr>Proposed Solution</vt:lpstr>
      <vt:lpstr>Methodology</vt:lpstr>
      <vt:lpstr>Methodology</vt:lpstr>
      <vt:lpstr>Objectives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Machine Learning</dc:title>
  <dc:creator>Akshay Jadhav [MU - Jaipur]</dc:creator>
  <cp:lastModifiedBy>pallavi chonkar</cp:lastModifiedBy>
  <cp:revision>11</cp:revision>
  <dcterms:created xsi:type="dcterms:W3CDTF">2025-09-29T05:03:41Z</dcterms:created>
  <dcterms:modified xsi:type="dcterms:W3CDTF">2026-02-18T21:39:06Z</dcterms:modified>
</cp:coreProperties>
</file>